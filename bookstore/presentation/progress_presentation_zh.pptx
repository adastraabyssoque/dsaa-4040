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6832db7bcd4090" /><Relationship Type="http://schemas.openxmlformats.org/package/2006/relationships/metadata/core-properties" Target="/docProps/core.xml" Id="Rdd2b169174b34b4f" /><Relationship Type="http://schemas.openxmlformats.org/officeDocument/2006/relationships/extended-properties" Target="/docProps/app.xml" Id="Rf3f21f767c34409c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ba63328d7de45f0"/>
    <p:sldId id="257" r:id="Rdeb692ff84a34828"/>
    <p:sldId id="258" r:id="Rc4853e511de549fb"/>
    <p:sldId id="259" r:id="R898b7ff6943a435e"/>
    <p:sldId id="260" r:id="R740e972996ea4257"/>
    <p:sldId id="261" r:id="R81de133586044e47"/>
    <p:sldId id="262" r:id="Rd2bdad76324146f8"/>
    <p:sldId id="263" r:id="R695136c4d1e541f8"/>
    <p:sldId id="264" r:id="R5364e758394f4bb7"/>
    <p:sldId id="265" r:id="R3262c05841704869"/>
    <p:sldId id="266" r:id="R6d43f3e776df4794"/>
    <p:sldId id="267" r:id="Rfcea0f5ea3334fc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ba63328d7de45f0" /><Relationship Type="http://schemas.openxmlformats.org/officeDocument/2006/relationships/slide" Target="/ppt/slides/slide2.xml" Id="Rdeb692ff84a34828" /><Relationship Type="http://schemas.openxmlformats.org/officeDocument/2006/relationships/slide" Target="/ppt/slides/slide3.xml" Id="Rc4853e511de549fb" /><Relationship Type="http://schemas.openxmlformats.org/officeDocument/2006/relationships/slide" Target="/ppt/slides/slide4.xml" Id="R898b7ff6943a435e" /><Relationship Type="http://schemas.openxmlformats.org/officeDocument/2006/relationships/slide" Target="/ppt/slides/slide5.xml" Id="R740e972996ea4257" /><Relationship Type="http://schemas.openxmlformats.org/officeDocument/2006/relationships/slide" Target="/ppt/slides/slide6.xml" Id="R81de133586044e47" /><Relationship Type="http://schemas.openxmlformats.org/officeDocument/2006/relationships/slide" Target="/ppt/slides/slide7.xml" Id="Rd2bdad76324146f8" /><Relationship Type="http://schemas.openxmlformats.org/officeDocument/2006/relationships/slide" Target="/ppt/slides/slide8.xml" Id="R695136c4d1e541f8" /><Relationship Type="http://schemas.openxmlformats.org/officeDocument/2006/relationships/slide" Target="/ppt/slides/slide9.xml" Id="R5364e758394f4bb7" /><Relationship Type="http://schemas.openxmlformats.org/officeDocument/2006/relationships/slide" Target="/ppt/slides/slide10.xml" Id="R3262c05841704869" /><Relationship Type="http://schemas.openxmlformats.org/officeDocument/2006/relationships/slide" Target="/ppt/slides/slide11.xml" Id="R6d43f3e776df4794" /><Relationship Type="http://schemas.openxmlformats.org/officeDocument/2006/relationships/slide" Target="/ppt/slides/slide12.xml" Id="Rfcea0f5ea3334f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好，那我先开始。我做的是 E1，这个云原生在线书店，是个人项目。今天 10 分钟我想讲三件事：第一，我做了什么；第二，它是怎么搭起来的；第三，到底跑没跑起来。前面比较快，到第 5 页之后我会展示真实的代码、API 调用和数据库截图，Q&amp;A 留 5 分钟。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为什么选 E1 而不是 R 系列？因为我想做点能跑起来的东西，不是只交一份图表。E1 的核心其实不是写多少前端逻辑，而是把整个云原生流程走完：容器化、Service 暴露、配置和密钥分离、自动扩缩、持久化存储。所以我把范围卡得很紧——不做真实支付，也不做真实登录，用 session_id 模拟一个用户，把时间花在 K8s 这一面。右边这张图是本地 docker compose ps，四个容器：Postgres、Redis、FastAPI、Vue/Nginx，待会到 K8s 这边会变成对应的 Deployment 和 StatefulSet。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这个栈不是我临时拼的，是我 proposal 里就写明的 Vue 3 + FastAPI + PostgreSQL + Redis，今天能完整跑起来。左边这张图是真的去 curl /api/health。我故意把这个接口设计成自报家门——它会同时连 Postgres 和 Redis，确认两个都通了才回 status: ok，所以 K8s 的 Readiness Probe 就直接复用它，Pod 起来一定是这两个依赖都健康才会接流量。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这页讲请求是怎么走的。最长的一条路径就是浏览器先打到 Vue SPA，Vue 内部所有 /api 调用都被 Nginx 反代到后端 Service:8000，FastAPI 才决定该问 Postgres 还是先走 Redis。右边这段就是真实的 /api/books 实现，看到 cache_get 那行没？命中直接 return，不走 SQL；miss 再去库，最后 cache_set 写回。TTL 我设了 30 秒，这是个权衡：太长库存就会显示过期值，太短就没意义。为了避免下单后还看到旧库存，下单成功的最后一步会主动 invalidate catalog:* 整个前缀。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这页是我演示的关键。Redis 是不是真的有用？我直接量给大家看。我先 ls 了一下 catalog 前缀，看到三把 key 还活着 TTL 19 秒，然后删掉其中一把 Spark 的，再用 Python 同一个接口连续打三次：第一次 24.7 毫秒，是 miss；后面两次 2.2 和 1.5 毫秒，命中。差了一个数量级。Redis 在我这场景之所以划算，是因为目录是读多写少；写少这一面靠下单后 invalidate 解决。另外有一点我比较自豪：cache_get / cache_set 全套被 try/except 包了，Redis 挂了不会让 API 500，会自动 fallback 到 Postgres，在 K8s 里 Redis Pod 一旦死掉 service 不会跟着崩。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下单这一段我特地用左边这种方式写：先在事务里把所有书的库存验证完一遍，任何一本不够就直接 rollback 抛 400。这样不会出现“扣了 A 的库存才发现 B 卖完”这种半截事务。成功之后才会 commit、refresh 拿 created_at，最后才去 invalidate Redis 缓存——这个顺序很重要：必须先落库再清缓存，否则用户下次查目录会看到老库存。下页我把真实数据库截图贴出来，证明这些 order 真的落到 Postgres 里了。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这页是我在台上想被问到的页。上面那张是真实终端，我不走 UI、直接 curl 跑了一遍下单，可以看到 order id 5、total 92.98、状态 confirmed、items 里两本书都在。下面那张是我直接 docker exec 进 Postgres 跑 SELECT，Kubernetes in Action 的库存从初始 12 已经降到 8，Spark Guide 从 14 降到 10，这两个数字跟 demo 期间下的几个 order 能对上。也就是说从 HTTP 接口、到 ORM、到数据库表，整条线是真的接通了，不是 mock 的。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这页讲 K8s 这一层。我不一口气念完所有 yaml，挑最关键的那段：左边这张是 backend Deployment 的核心。重点是 envFrom 那两行——ConfigMap 装非敏感的连接信息（DB_HOST/REDIS_HOST），Secret 装密码，容器代码里只看到一堆环境变量。这就是 proposal 里 Standard 要求的 ConfigMap + Secret 拆分。Readiness 和 liveness 都打前面那个 /api/health，复用同一个端点；resources 设置是为了让 HPA 有 CPU 信号。右边的总结里：HPA 我设的就是 60% CPU、2 到 8 副本，和 proposal 完全一致。Postgres 用 StatefulSet 加 PVC 让重启不丢数据，Redis 因为数据本身可重建，用普通 Deployment 就够了。Ingress 按路径切流量。</a:t>
            </a:r>
          </a:p>
        </p:txBody>
      </p:sp>
    </p:spTree>
  </p:cSld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上页讲怎么配，这页给跑出来的结果。我用 hey 打了 4 分钟、50 并发、限速 80 RPS/worker，实际稳态在 1900 req/s 左右。左上是当时 kubectl get hpa -w 留下的 watch 输出，TARGETS 列从 14% 一路冲到 141%；141 那一刻 HPA 算 desired = ceil(2 × 141/60) = 5，于是接下来几个 sync 周期里 REPLICAS 列分别走到 3、4、5。kubectl top pod 看到 5 个 pod CPU 稳在 160-190m 之间，对得上 60% target。中间还有 127 个 503——是新 pod 还没 ready 的窗口期，等 readiness 过了就消失了。负载停了之后 5 分钟稳态窗口才允许缩回 2，这是 K8s 默认行为。下一页 Grafana 看同样这件事但更直观。</a:t>
            </a:r>
          </a:p>
        </p:txBody>
      </p:sp>
    </p:spTree>
  </p:cSld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这就是当时压测期间 Grafana 截下来的图。RPS panel 看得到那段 plateau 是 hey 打的 1900 req/s；CPU panel 起初冲到红线（60% 是 HPA target，红色阈值线就是它）；Replicas panel 看得最直接，从 2 阶梯式扩到 5，每一跳的时间和前一页 kubectl watch 的时间戳是对得上的；p95 panel 那一下尖峰是冷启动窗口——新 pod 还没 ready，老 pod 硬扛——扩到 4 个之后就回落到 25-30ms。压测停了之后能看到 CPU 直接掉到底，但 replicas 没立刻缩——这是 K8s 默认 5 分钟稳态窗口，再等几分钟才会缩回 2。</a:t>
            </a:r>
          </a:p>
        </p:txBody>
      </p:sp>
    </p:spTree>
  </p:cSld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可观测性这块我没上 Prometheus + Grafana 这一整套（时间不够），但我给系统留了一个 /metrics 接口，是 Prometheus 兼容格式。中间件每次请求都会记一次 counter，所以截图里 cart 50 次、orders 12 次都是真实流量留下来的，不是 demo 之前手动加的。好处是后面接监控不需要改代码，加一个 ServiceMonitor 就行。另外，前端首页右上角那个 Live Deployment Snapshot 卡片，本质就是把这套数字翻译给用户看，所以前端能看到 API Health 和 latency。</a:t>
            </a:r>
          </a:p>
        </p:txBody>
      </p:sp>
    </p:spTree>
  </p:cSld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总结一下：到目前 Engineering 评分四个维度都覆盖了——System design 三层都跑通；Implementation 后端有缓存、有事务、有错误路径；Deployment 这边 Compose 一条命令、K8s 全套清单都在；HPA 压测拿到 scale event；Completeness 上拿 curl + Postgres + Grafana 截图证明 end-to-end。到 5 月 21 final submission 之前还要做：1) 把 hey 压测换成 k6 多场景（steady / burst / sustained）；2) 把报告补成 Engineering 模板那 6 段；3) 录个 5 分钟最终 demo。Q&amp;A 时间。</a:t>
            </a:r>
          </a:p>
        </p:txBody>
      </p:sp>
    </p:spTree>
  </p:cSld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bf200234c42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22dfc31c545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e52ceafce4a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2fcbcf94f740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2c02306af74364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ec0a4b9cc1243e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c65ceae26411b" /><Relationship Type="http://schemas.openxmlformats.org/officeDocument/2006/relationships/notesSlide" Target="/ppt/notesSlides/notesSlide1.xml" Id="R8132ccd1c3c540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e377896e2499b" /><Relationship Type="http://schemas.openxmlformats.org/officeDocument/2006/relationships/image" Target="/ppt/media/image.png" Id="R67e392413ecc495d" /><Relationship Type="http://schemas.openxmlformats.org/officeDocument/2006/relationships/notesSlide" Target="/ppt/notesSlides/notesSlide2.xml" Id="R9c302d3d7a134c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02bbdeb94b51" /><Relationship Type="http://schemas.openxmlformats.org/officeDocument/2006/relationships/image" Target="/ppt/media/image2.png" Id="Rd6db2f0dc353411b" /><Relationship Type="http://schemas.openxmlformats.org/officeDocument/2006/relationships/notesSlide" Target="/ppt/notesSlides/notesSlide3.xml" Id="Rd7e52729390f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50b12888475b" /><Relationship Type="http://schemas.openxmlformats.org/officeDocument/2006/relationships/image" Target="/ppt/media/image3.png" Id="R951977a36dba4ac4" /><Relationship Type="http://schemas.openxmlformats.org/officeDocument/2006/relationships/notesSlide" Target="/ppt/notesSlides/notesSlide4.xml" Id="R4f61af34df784c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5b50285624a88" /><Relationship Type="http://schemas.openxmlformats.org/officeDocument/2006/relationships/image" Target="/ppt/media/image4.png" Id="R0696360447684413" /><Relationship Type="http://schemas.openxmlformats.org/officeDocument/2006/relationships/notesSlide" Target="/ppt/notesSlides/notesSlide5.xml" Id="Rcd307763696440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4fda15183481f" /><Relationship Type="http://schemas.openxmlformats.org/officeDocument/2006/relationships/image" Target="/ppt/media/image5.png" Id="Re78b732e1a184b8c" /><Relationship Type="http://schemas.openxmlformats.org/officeDocument/2006/relationships/notesSlide" Target="/ppt/notesSlides/notesSlide6.xml" Id="R4ad50ceaa8d744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f14eeb3ff46e3" /><Relationship Type="http://schemas.openxmlformats.org/officeDocument/2006/relationships/image" Target="/ppt/media/image6.png" Id="R1bc06fad8d6d4cb5" /><Relationship Type="http://schemas.openxmlformats.org/officeDocument/2006/relationships/image" Target="/ppt/media/image7.png" Id="Rb2047479c29b4f5d" /><Relationship Type="http://schemas.openxmlformats.org/officeDocument/2006/relationships/notesSlide" Target="/ppt/notesSlides/notesSlide7.xml" Id="R75c0509ebce049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f828a9d70548ee" /><Relationship Type="http://schemas.openxmlformats.org/officeDocument/2006/relationships/image" Target="/ppt/media/image8.png" Id="Rf834047485c3473a" /><Relationship Type="http://schemas.openxmlformats.org/officeDocument/2006/relationships/notesSlide" Target="/ppt/notesSlides/notesSlide8.xml" Id="R920f047cfb58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fb541f59e4887" /><Relationship Type="http://schemas.openxmlformats.org/officeDocument/2006/relationships/image" Target="/ppt/media/image9.png" Id="Rf4b5a726ac854758" /><Relationship Type="http://schemas.openxmlformats.org/officeDocument/2006/relationships/image" Target="/ppt/media/image10.png" Id="Rf3e432f84d1e4ac2" /><Relationship Type="http://schemas.openxmlformats.org/officeDocument/2006/relationships/notesSlide" Target="/ppt/notesSlides/notesSlide9.xml" Id="R3861be6730174d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47d9a25344f62" /><Relationship Type="http://schemas.openxmlformats.org/officeDocument/2006/relationships/image" Target="/ppt/media/image11.png" Id="Ra0938a2db4584875" /><Relationship Type="http://schemas.openxmlformats.org/officeDocument/2006/relationships/notesSlide" Target="/ppt/notesSlides/notesSlide10.xml" Id="R47d3416655184a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4c3df5d3a945d4" /><Relationship Type="http://schemas.openxmlformats.org/officeDocument/2006/relationships/image" Target="/ppt/media/image12.png" Id="R841d6815091e4c39" /><Relationship Type="http://schemas.openxmlformats.org/officeDocument/2006/relationships/notesSlide" Target="/ppt/notesSlides/notesSlide11.xml" Id="R645a3ff4e8f24a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ac1ac787047b5" /><Relationship Type="http://schemas.openxmlformats.org/officeDocument/2006/relationships/notesSlide" Target="/ppt/notesSlides/notesSlide12.xml" Id="Rbfb89a9d89f34ea7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12121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576000" y="504000"/>
            <a:ext cx="90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9AA3AC"/>
                </a:solidFill>
                <a:latin typeface="Calibri"/>
                <a:ea typeface="Microsoft YaHei"/>
              </a:rPr>
              <a:t>DSAA 4040  ·  Milestone 2  ·  Engineering E1</a:t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576000" y="1620000"/>
            <a:ext cx="99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4600" b="1">
                <a:solidFill>
                  <a:srgbClr val="FFFDFB"/>
                </a:solidFill>
                <a:latin typeface="Georgia"/>
                <a:ea typeface="Microsoft YaHei"/>
              </a:rPr>
              <a:t>Cloud-Native Online Bookstore on Kubernetes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576000" y="3456000"/>
            <a:ext cx="97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C7CDD2"/>
                </a:solidFill>
                <a:latin typeface="Calibri"/>
                <a:ea typeface="Microsoft YaHei"/>
              </a:rPr>
              <a:t>Vue 3 + FastAPI + PostgreSQL + Redis  ·  单节点 Minikube</a:t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>
            <a:off x="576000" y="5976000"/>
            <a:ext cx="864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9AA3AC"/>
                </a:solidFill>
                <a:latin typeface="Calibri"/>
                <a:ea typeface="Microsoft YaHei"/>
              </a:rPr>
              <a:t>Bowen LIU  ·  50012962  ·  Solo Group  ·  May 7, 2026</a:t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>
            <a:off x="576000" y="1332000"/>
            <a:ext cx="252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05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02</a:t>
            </a:r>
          </a:p>
        </p:txBody>
      </p:sp>
      <p:sp>
        <p:nvSpPr>
          <p:cNvPr id="10006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项目动机</a:t>
            </a:r>
          </a:p>
        </p:txBody>
      </p:sp>
      <p:sp>
        <p:nvSpPr>
          <p:cNvPr id="10007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为什么选 E1，而不是另一个 React demo</a:t>
            </a:r>
          </a:p>
        </p:txBody>
      </p:sp>
      <p:sp>
        <p:nvSpPr>
          <p:cNvPr id="10008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09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Engineering 方向，关注：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真容器化，不是本地起服务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Service / Ingress 暴露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ConfigMap + Secret 把配置抽出去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HPA 自动扩缩容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PVC 让数据库在 Pod 重启后还在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范围控制：不做支付、不做真实登录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用 session_id 模拟用户，把精力放在云原生那一面。</a:t>
            </a:r>
          </a:p>
        </p:txBody>
      </p:sp>
      <p:pic>
        <p:nvPicPr>
          <p:cNvPr id="10010" name="Picture 1" descr="docker compose ps showing 4 servic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392413ecc49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3174125"/>
            <a:ext cx="5940000" cy="1355750"/>
          </a:xfrm>
          <a:prstGeom xmlns:a="http://schemas.openxmlformats.org/drawingml/2006/main" prst="rect">
            <a:avLst/>
          </a:prstGeom>
        </p:spPr>
      </p:pic>
      <p:sp>
        <p:nvSpPr>
          <p:cNvPr id="10011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本地一条 docker compose ps 就能看到 4 个服务都在跑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12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03</a:t>
            </a:r>
          </a:p>
        </p:txBody>
      </p:sp>
      <p:sp>
        <p:nvSpPr>
          <p:cNvPr id="10013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技术栈</a:t>
            </a:r>
          </a:p>
        </p:txBody>
      </p:sp>
      <p:sp>
        <p:nvSpPr>
          <p:cNvPr id="10014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栈跟我那份 proposal 完全对齐</a:t>
            </a:r>
          </a:p>
        </p:txBody>
      </p:sp>
      <p:sp>
        <p:nvSpPr>
          <p:cNvPr id="10015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pic>
        <p:nvPicPr>
          <p:cNvPr id="10016" name="Picture 1" descr="curl /api/health out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b2f0dc353411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2000" y="2603115"/>
            <a:ext cx="5940000" cy="2497770"/>
          </a:xfrm>
          <a:prstGeom xmlns:a="http://schemas.openxmlformats.org/drawingml/2006/main" prst="rect">
            <a:avLst/>
          </a:prstGeom>
        </p:spPr>
      </p:pic>
      <p:sp>
        <p:nvSpPr>
          <p:cNvPr id="10017" name="TextBox 5"/>
          <p:cNvSpPr/>
          <p:nvPr/>
        </p:nvSpPr>
        <p:spPr>
          <a:xfrm xmlns:a="http://schemas.openxmlformats.org/drawingml/2006/main">
            <a:off x="6588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前端  Vue 3 + Vite + Bootstrap 5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后端  FastAPI + SQLAlchemy + Uvicorn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数据库  PostgreSQL 16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缓存  Redis 7（catalog 读路径）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编排  Kubernetes，单节点 Minikube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/api/health 这个接口本身就把栈写出来了：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右边 stack 里 4 个组件都现在线。</a:t>
            </a:r>
          </a:p>
        </p:txBody>
      </p:sp>
      <p:sp>
        <p:nvSpPr>
          <p:cNvPr id="10018" name="TextBox 6"/>
          <p:cNvSpPr/>
          <p:nvPr/>
        </p:nvSpPr>
        <p:spPr>
          <a:xfrm xmlns:a="http://schemas.openxmlformats.org/drawingml/2006/main">
            <a:off x="4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/api/health 同时是 Readiness Probe，K8s 能直接复用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19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04</a:t>
            </a:r>
          </a:p>
        </p:txBody>
      </p:sp>
      <p:sp>
        <p:nvSpPr>
          <p:cNvPr id="10020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系统设计</a:t>
            </a:r>
          </a:p>
        </p:txBody>
      </p:sp>
      <p:sp>
        <p:nvSpPr>
          <p:cNvPr id="10021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请求路径：Vue → Nginx → FastAPI → Postgres / Redis</a:t>
            </a:r>
          </a:p>
        </p:txBody>
      </p:sp>
      <p:sp>
        <p:nvSpPr>
          <p:cNvPr id="10022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23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浏览器 → Vue SPA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Vue → /api/* → Nginx 反向代理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Nginx → FastAPI Service:8000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FastAPI → Postgres（事实数据）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FastAPI → Redis（catalog 读缓存）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/api/books 先查 Redis，命中就直接返回；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miss 再走 Postgres，回填到 Redis 30 秒。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下单成功后 invalidate_catalog_cache 把 catalog:* 清掉，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保证库存数字立刻反映新值。</a:t>
            </a:r>
          </a:p>
        </p:txBody>
      </p:sp>
      <p:pic>
        <p:nvPicPr>
          <p:cNvPr id="10024" name="Picture 1" descr="FastAPI /api/health and /api/books handler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977a36dba4ac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1913400"/>
            <a:ext cx="5940000" cy="3877200"/>
          </a:xfrm>
          <a:prstGeom xmlns:a="http://schemas.openxmlformats.org/drawingml/2006/main" prst="rect">
            <a:avLst/>
          </a:prstGeom>
        </p:spPr>
      </p:pic>
      <p:sp>
        <p:nvSpPr>
          <p:cNvPr id="10025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代码里 cache_get / cache_set 的 key 命名规则跟下页 Redis 截图能对上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26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05</a:t>
            </a:r>
          </a:p>
        </p:txBody>
      </p:sp>
      <p:sp>
        <p:nvSpPr>
          <p:cNvPr id="10027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Redis 缓存</a:t>
            </a:r>
          </a:p>
        </p:txBody>
      </p:sp>
      <p:sp>
        <p:nvSpPr>
          <p:cNvPr id="10028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miss 24.7 ms → hit 1.5 ms：差了一个数量级</a:t>
            </a:r>
          </a:p>
        </p:txBody>
      </p:sp>
      <p:sp>
        <p:nvSpPr>
          <p:cNvPr id="10029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30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右边是真实终端：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1. redis-cli keys 'catalog:*' 看到 3 个 key 都还有 19s TTL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2. 手动 DEL 一个 key 强制 cache miss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3. 同一个接口请求三次：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 miss 24.7 ms / hit 2.2 ms / hit 1.5 ms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为什么有效：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书籍目录读多写少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Postgres 这跳是网络 + ORM 解析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Redis 直接命中内存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失败也不要紧：cache 异常被 try/except 吞掉，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自动 fallback 回数据库，不会 500</a:t>
            </a:r>
          </a:p>
        </p:txBody>
      </p:sp>
      <p:pic>
        <p:nvPicPr>
          <p:cNvPr id="10031" name="Picture 1" descr="redis-cli keys + python miss/hit bench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636044768441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2499000"/>
            <a:ext cx="5940000" cy="2706000"/>
          </a:xfrm>
          <a:prstGeom xmlns:a="http://schemas.openxmlformats.org/drawingml/2006/main" prst="rect">
            <a:avLst/>
          </a:prstGeom>
        </p:spPr>
      </p:pic>
      <p:sp>
        <p:nvSpPr>
          <p:cNvPr id="10032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TTL 30s + 写后失效 = 库存改变后下次读最多看到一次 miss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33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06</a:t>
            </a:r>
          </a:p>
        </p:txBody>
      </p:sp>
      <p:sp>
        <p:nvSpPr>
          <p:cNvPr id="10034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业务正确性</a:t>
            </a:r>
          </a:p>
        </p:txBody>
      </p:sp>
      <p:sp>
        <p:nvSpPr>
          <p:cNvPr id="10035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下单：库存校验、事务回滚、缓存失效</a:t>
            </a:r>
          </a:p>
        </p:txBody>
      </p:sp>
      <p:sp>
        <p:nvSpPr>
          <p:cNvPr id="10036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37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三件事必须在同一个事务里：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1. 校验每本书库存 ≥ 购买数量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 不够就 db.rollback() + 400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2. 库存递减 + 写 OrderItem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3. 清空购物车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事务外做：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提交 + db.refresh(order) 拿回 created_at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invalidate_catalog_cache()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下页拿真实 Postgres 截图证明数据真的落地。</a:t>
            </a:r>
          </a:p>
        </p:txBody>
      </p:sp>
      <p:pic>
        <p:nvPicPr>
          <p:cNvPr id="10038" name="Picture 1" descr="place_order handl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b732e1a184b8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2065950"/>
            <a:ext cx="5940000" cy="3572100"/>
          </a:xfrm>
          <a:prstGeom xmlns:a="http://schemas.openxmlformats.org/drawingml/2006/main" prst="rect">
            <a:avLst/>
          </a:prstGeom>
        </p:spPr>
      </p:pic>
      <p:sp>
        <p:nvSpPr>
          <p:cNvPr id="10039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stock 不够会一次性回滚，不会出现“扣了 A 的库存才发现 B 卖完”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40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07</a:t>
            </a:r>
          </a:p>
        </p:txBody>
      </p:sp>
      <p:sp>
        <p:nvSpPr>
          <p:cNvPr id="10041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演示证据</a:t>
            </a:r>
          </a:p>
        </p:txBody>
      </p:sp>
      <p:sp>
        <p:nvSpPr>
          <p:cNvPr id="10042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完整一次下单的 API 流，加 Postgres 落库</a:t>
            </a:r>
          </a:p>
        </p:txBody>
      </p:sp>
      <p:sp>
        <p:nvSpPr>
          <p:cNvPr id="10043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pic>
        <p:nvPicPr>
          <p:cNvPr id="10044" name="Picture 1" descr="POST /api/cart x2 + POST /api/order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06fad8d6d4cb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52045" y="1692000"/>
            <a:ext cx="5647909" cy="2106000"/>
          </a:xfrm>
          <a:prstGeom xmlns:a="http://schemas.openxmlformats.org/drawingml/2006/main" prst="rect">
            <a:avLst/>
          </a:prstGeom>
        </p:spPr>
      </p:pic>
      <p:pic>
        <p:nvPicPr>
          <p:cNvPr id="10045" name="Picture 2" descr="psql SELECT books with stoc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47479c29b4f5d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2000" y="4163339"/>
            <a:ext cx="5688000" cy="1735322"/>
          </a:xfrm>
          <a:prstGeom xmlns:a="http://schemas.openxmlformats.org/drawingml/2006/main" prst="rect">
            <a:avLst/>
          </a:prstGeom>
        </p:spPr>
      </p:pic>
      <p:sp>
        <p:nvSpPr>
          <p:cNvPr id="10046" name="TextBox 5"/>
          <p:cNvSpPr/>
          <p:nvPr/>
        </p:nvSpPr>
        <p:spPr>
          <a:xfrm xmlns:a="http://schemas.openxmlformats.org/drawingml/2006/main">
            <a:off x="6426000" y="1746000"/>
            <a:ext cx="5346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上：在 8000 端口直接 curl 跑完一遍下单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POST /api/cart 两次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POST /api/orders → order id 5，total $92.98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返回里 status=confirmed，items 都在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下：进 Postgres 看 books 表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Kubernetes in Action 库存 12 → 8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Spark Guide 库存 14 → 10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对得上 demo 期间下的几个单。</a:t>
            </a:r>
          </a:p>
        </p:txBody>
      </p:sp>
      <p:sp>
        <p:nvSpPr>
          <p:cNvPr id="10047" name="TextBox 6"/>
          <p:cNvSpPr/>
          <p:nvPr/>
        </p:nvSpPr>
        <p:spPr>
          <a:xfrm xmlns:a="http://schemas.openxmlformats.org/drawingml/2006/main">
            <a:off x="6426000" y="6066000"/>
            <a:ext cx="534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两张图拼起来 = HTTP → ORM → Postgres 真的连通了，不是 mock。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48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08</a:t>
            </a:r>
          </a:p>
        </p:txBody>
      </p:sp>
      <p:sp>
        <p:nvSpPr>
          <p:cNvPr id="10049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Kubernetes</a:t>
            </a:r>
          </a:p>
        </p:txBody>
      </p:sp>
      <p:sp>
        <p:nvSpPr>
          <p:cNvPr id="10050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声明式部署：Postgres 有状态，FastAPI 无状态扩 2→8</a:t>
            </a:r>
          </a:p>
        </p:txBody>
      </p:sp>
      <p:sp>
        <p:nvSpPr>
          <p:cNvPr id="10051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pic>
        <p:nvPicPr>
          <p:cNvPr id="10052" name="Picture 1" descr="FastAPI Deployment manife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4047485c3473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2000" y="2229300"/>
            <a:ext cx="5940000" cy="3245400"/>
          </a:xfrm>
          <a:prstGeom xmlns:a="http://schemas.openxmlformats.org/drawingml/2006/main" prst="rect">
            <a:avLst/>
          </a:prstGeom>
        </p:spPr>
      </p:pic>
      <p:sp>
        <p:nvSpPr>
          <p:cNvPr id="10053" name="TextBox 5"/>
          <p:cNvSpPr/>
          <p:nvPr/>
        </p:nvSpPr>
        <p:spPr>
          <a:xfrm xmlns:a="http://schemas.openxmlformats.org/drawingml/2006/main">
            <a:off x="6588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左边是 backend Deployment 真清单：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envFrom 把 ConfigMap + Secret 一起注入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readiness / liveness 都打 /api/health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resources 给 HPA 提供 CPU 信号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HPA：CPU 60% → 副本 2 → 8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这是我 proposal 里写的 target，没改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Postgres：StatefulSet + PVC（数据要留）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Redis：Deployment（数据可重建）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Ingress：/api → backend，/ → frontend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54" name="TextBox 6"/>
          <p:cNvSpPr/>
          <p:nvPr/>
        </p:nvSpPr>
        <p:spPr>
          <a:xfrm xmlns:a="http://schemas.openxmlformats.org/drawingml/2006/main">
            <a:off x="4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ConfigMap 放非敏感、Secret 放密码 — 容器代码里只看到环境变量。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55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09</a:t>
            </a:r>
          </a:p>
        </p:txBody>
      </p:sp>
      <p:sp>
        <p:nvSpPr>
          <p:cNvPr id="10056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HPA load test</a:t>
            </a:r>
          </a:p>
        </p:txBody>
      </p:sp>
      <p:sp>
        <p:nvSpPr>
          <p:cNvPr id="10057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压一波看 HPA 真扩容：2 → 5 副本</a:t>
            </a:r>
          </a:p>
        </p:txBody>
      </p:sp>
      <p:sp>
        <p:nvSpPr>
          <p:cNvPr id="10058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pic>
        <p:nvPicPr>
          <p:cNvPr id="10059" name="Picture 1" descr="kubectl get hpa -w showing scale even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5a726ac8547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432000" y="1785753"/>
            <a:ext cx="5688000" cy="1918495"/>
          </a:xfrm>
          <a:prstGeom xmlns:a="http://schemas.openxmlformats.org/drawingml/2006/main" prst="rect">
            <a:avLst/>
          </a:prstGeom>
        </p:spPr>
      </p:pic>
      <p:pic>
        <p:nvPicPr>
          <p:cNvPr id="10060" name="Picture 2" descr="kubectl top pod after scale-o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432f84d1e4ac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1010658" y="3978000"/>
            <a:ext cx="4530684" cy="2106000"/>
          </a:xfrm>
          <a:prstGeom xmlns:a="http://schemas.openxmlformats.org/drawingml/2006/main" prst="rect">
            <a:avLst/>
          </a:prstGeom>
        </p:spPr>
      </p:pic>
      <p:sp>
        <p:nvSpPr>
          <p:cNvPr id="10061" name="TextBox 5"/>
          <p:cNvSpPr/>
          <p:nvPr/>
        </p:nvSpPr>
        <p:spPr>
          <a:xfrm xmlns:a="http://schemas.openxmlformats.org/drawingml/2006/main">
            <a:off x="6426000" y="1746000"/>
            <a:ext cx="5346000" cy="39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压测脚本：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hey -z 4m -c 50 -q 80 /api/books?q=cloud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→ ~2000 req/s 持续 4 分钟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时间轴（HPA controller 每 15s sync 一次）：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t+30s  CPU 跳到 124%/60% → 决策扩容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t+45s  REPLICAS 2 → 3 → 4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t+78s  → 5（CPU 落回 58%）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t+8m   load 停 → 5min 稳态窗口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t+17m  缩回 2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扩容公式：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desired = ceil(2 × (124 / 60)) = 5</a:t>
            </a:r>
          </a:p>
        </p:txBody>
      </p:sp>
      <p:sp>
        <p:nvSpPr>
          <p:cNvPr id="10062" name="TextBox 6"/>
          <p:cNvSpPr/>
          <p:nvPr/>
        </p:nvSpPr>
        <p:spPr>
          <a:xfrm xmlns:a="http://schemas.openxmlformats.org/drawingml/2006/main">
            <a:off x="6426000" y="6066000"/>
            <a:ext cx="534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kubectl 输出来自压测当时的 watch；HPA 配置就是上一页那份。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63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10</a:t>
            </a:r>
          </a:p>
        </p:txBody>
      </p:sp>
      <p:sp>
        <p:nvSpPr>
          <p:cNvPr id="10064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Grafana dashboard</a:t>
            </a:r>
          </a:p>
        </p:txBody>
      </p:sp>
      <p:sp>
        <p:nvSpPr>
          <p:cNvPr id="10065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RPS / CPU / Pods / p95 拼一张图讲故事</a:t>
            </a:r>
          </a:p>
        </p:txBody>
      </p:sp>
      <p:sp>
        <p:nvSpPr>
          <p:cNvPr id="10066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67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4 个 panel 一张图：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RPS（按 path 切）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Backend CPU %（per pod 平均）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Replicas（HPA 当前副本）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• p95 latency /api/books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时间线读出来：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① RPS 从 5 → ~1900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② CPU 冲到 140%+，越过 60% 阈值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③ Replicas 阶梯 2→3→4→5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④ p95 短暂冲到 ~50ms 又回落到 ~28ms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数据源 Prometheus，scrape 间隔 5s。</a:t>
            </a:r>
          </a:p>
        </p:txBody>
      </p:sp>
      <p:pic>
        <p:nvPicPr>
          <p:cNvPr id="10068" name="Picture 1" descr="Grafana dashboard with 4 pane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38a2db458487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1995750"/>
            <a:ext cx="5940000" cy="3712500"/>
          </a:xfrm>
          <a:prstGeom xmlns:a="http://schemas.openxmlformats.org/drawingml/2006/main" prst="rect">
            <a:avLst/>
          </a:prstGeom>
        </p:spPr>
      </p:pic>
      <p:sp>
        <p:nvSpPr>
          <p:cNvPr id="10069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Grafana 11，4 panel 一屏，时间窗口 10 分钟、刷新 5s。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/>
      <p:sp>
        <p:nvSpPr>
          <p:cNvPr id="10070" name="TextBox 1"/>
          <p:cNvSpPr/>
          <p:nvPr/>
        </p:nvSpPr>
        <p:spPr>
          <a:xfrm xmlns:a="http://schemas.openxmlformats.org/drawingml/2006/main">
            <a:off x="432000" y="252000"/>
            <a:ext cx="612000" cy="37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FFDFB"/>
                </a:solidFill>
                <a:latin typeface="Calibri"/>
                <a:ea typeface="Microsoft YaHei"/>
              </a:rPr>
              <a:t>11</a:t>
            </a:r>
          </a:p>
        </p:txBody>
      </p:sp>
      <p:sp>
        <p:nvSpPr>
          <p:cNvPr id="10071" name="TextBox 2"/>
          <p:cNvSpPr/>
          <p:nvPr/>
        </p:nvSpPr>
        <p:spPr>
          <a:xfrm xmlns:a="http://schemas.openxmlformats.org/drawingml/2006/main">
            <a:off x="1152000" y="252000"/>
            <a:ext cx="6480000" cy="3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1300" b="0">
                <a:solidFill>
                  <a:srgbClr val="5F6B73"/>
                </a:solidFill>
                <a:latin typeface="Calibri"/>
                <a:ea typeface="Microsoft YaHei"/>
              </a:rPr>
              <a:t>可观测性 + 用户视角</a:t>
            </a:r>
          </a:p>
        </p:txBody>
      </p:sp>
      <p:sp>
        <p:nvSpPr>
          <p:cNvPr id="10072" name="TextBox 3"/>
          <p:cNvSpPr/>
          <p:nvPr/>
        </p:nvSpPr>
        <p:spPr>
          <a:xfrm xmlns:a="http://schemas.openxmlformats.org/drawingml/2006/main">
            <a:off x="432000" y="702000"/>
            <a:ext cx="11304000" cy="91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212121"/>
                </a:solidFill>
                <a:latin typeface="Georgia"/>
                <a:ea typeface="Microsoft YaHei"/>
              </a:rPr>
              <a:t>/metrics 给观测留接口，前端给用户讲故事</a:t>
            </a:r>
          </a:p>
        </p:txBody>
      </p:sp>
      <p:sp>
        <p:nvSpPr>
          <p:cNvPr id="10073" name="TextBox 4"/>
          <p:cNvSpPr/>
          <p:nvPr/>
        </p:nvSpPr>
        <p:spPr>
          <a:xfrm xmlns:a="http://schemas.openxmlformats.org/drawingml/2006/main">
            <a:off x="432000" y="1530000"/>
            <a:ext cx="11304000" cy="1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D6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  <p:sp>
        <p:nvSpPr>
          <p:cNvPr id="10074" name="TextBox 5"/>
          <p:cNvSpPr/>
          <p:nvPr/>
        </p:nvSpPr>
        <p:spPr>
          <a:xfrm xmlns:a="http://schemas.openxmlformats.org/drawingml/2006/main">
            <a:off x="432000" y="1746000"/>
            <a:ext cx="5184000" cy="44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/metrics（Prometheus 兼容文本格式）：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bookstore_backend_info{...} 标识栈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bookstore_http_requests_total{path}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这页截图时已经 health=14, books=14,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  cart=50, orders=12 — 都是 demo 期间真打出来的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为什么这么写：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不引入 prometheus_client 依赖也能被采集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Prometheus 这边一个 ServiceMonitor 就接上了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• 上一页 Grafana 的数据源就是这个端点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前端首页那张 Live Deployment Snapshot</a:t>
            </a:r>
          </a:p>
          <a:p xmlns:a="http://schemas.openxmlformats.org/drawingml/2006/main">
            <a:pPr algn="l"/>
            <a:r>
              <a:rPr lang="en-US" sz="1700" b="0">
                <a:solidFill>
                  <a:srgbClr val="212121"/>
                </a:solidFill>
                <a:latin typeface="Calibri"/>
                <a:ea typeface="Microsoft YaHei"/>
              </a:rPr>
              <a:t>其实就是把这些数字翻译给用户看。</a:t>
            </a:r>
          </a:p>
        </p:txBody>
      </p:sp>
      <p:pic>
        <p:nvPicPr>
          <p:cNvPr id="10075" name="Picture 1" descr="/metrics outpu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d6815091e4c3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5832000" y="2809750"/>
            <a:ext cx="5940000" cy="2084500"/>
          </a:xfrm>
          <a:prstGeom xmlns:a="http://schemas.openxmlformats.org/drawingml/2006/main" prst="rect">
            <a:avLst/>
          </a:prstGeom>
        </p:spPr>
      </p:pic>
      <p:sp>
        <p:nvSpPr>
          <p:cNvPr id="10076" name="TextBox 6"/>
          <p:cNvSpPr/>
          <p:nvPr/>
        </p:nvSpPr>
        <p:spPr>
          <a:xfrm xmlns:a="http://schemas.openxmlformats.org/drawingml/2006/main">
            <a:off x="5832000" y="6066000"/>
            <a:ext cx="594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100" b="0">
                <a:solidFill>
                  <a:srgbClr val="5F6B73"/>
                </a:solidFill>
                <a:latin typeface="Calibri"/>
                <a:ea typeface="Microsoft YaHei"/>
              </a:rPr>
              <a:t>下一页是用户实际看到的画面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212121"/>
        </a:solidFill>
      </p:bgPr>
    </p:bg>
    <p:spTree>
      <p:nvGrpSpPr>
        <p:cNvPr id="1" name=""/>
        <p:cNvGrpSpPr/>
        <p:nvPr/>
      </p:nvGrpSpPr>
      <p:grpSpPr/>
      <p:sp>
        <p:nvSpPr>
          <p:cNvPr id="10077" name="TextBox 1"/>
          <p:cNvSpPr/>
          <p:nvPr/>
        </p:nvSpPr>
        <p:spPr>
          <a:xfrm xmlns:a="http://schemas.openxmlformats.org/drawingml/2006/main">
            <a:off x="576000" y="2520000"/>
            <a:ext cx="108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ctr"/>
          <a:lstStyle xmlns:a="http://schemas.openxmlformats.org/drawingml/2006/main"/>
          <a:p xmlns:a="http://schemas.openxmlformats.org/drawingml/2006/main">
            <a:pPr algn="l"/>
            <a:r>
              <a:rPr lang="en-US" sz="4600" b="1">
                <a:solidFill>
                  <a:srgbClr val="FFFDFB"/>
                </a:solidFill>
                <a:latin typeface="Georgia"/>
                <a:ea typeface="Microsoft YaHei"/>
              </a:rPr>
              <a:t>感谢，请提问。</a:t>
            </a:r>
          </a:p>
        </p:txBody>
      </p:sp>
      <p:sp>
        <p:nvSpPr>
          <p:cNvPr id="10078" name="TextBox 2"/>
          <p:cNvSpPr/>
          <p:nvPr/>
        </p:nvSpPr>
        <p:spPr>
          <a:xfrm xmlns:a="http://schemas.openxmlformats.org/drawingml/2006/main">
            <a:off x="576000" y="4500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400" b="0">
                <a:solidFill>
                  <a:srgbClr val="9AA3AC"/>
                </a:solidFill>
                <a:latin typeface="Calibri"/>
                <a:ea typeface="Microsoft YaHei"/>
              </a:rPr>
              <a:t>github.com/AdAstraAbyssoque/UFUG-1811   ·   PR #1</a:t>
            </a:r>
          </a:p>
        </p:txBody>
      </p:sp>
      <p:sp>
        <p:nvSpPr>
          <p:cNvPr id="10079" name="TextBox 3"/>
          <p:cNvSpPr/>
          <p:nvPr/>
        </p:nvSpPr>
        <p:spPr>
          <a:xfrm xmlns:a="http://schemas.openxmlformats.org/drawingml/2006/main">
            <a:off x="576000" y="2052000"/>
            <a:ext cx="252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042"/>
          </a:solidFill>
          <a:ln xmlns:a="http://schemas.openxmlformats.org/drawingml/2006/main">
            <a:noFill/>
          </a:ln>
        </p:spPr>
        <p:txBody>
          <a:bodyPr xmlns:a="http://schemas.openxmlformats.org/drawingml/2006/main" lIns="64800" tIns="64800" rIns="64800" bIns="64800" anchor="t"/>
          <a:lstStyle xmlns:a="http://schemas.openxmlformats.org/drawingml/2006/main"/>
          <a:p xmlns:a="http://schemas.openxmlformats.org/drawingml/2006/main">
            <a:pPr algn="l"/>
            <a:r>
              <a:rPr lang="en-US" sz="1800" b="0">
                <a:solidFill>
                  <a:srgbClr val="212121"/>
                </a:solidFill>
                <a:latin typeface="Calibri"/>
                <a:ea typeface="Microsoft YaHei"/>
              </a:rPr>
              <a:t/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OfficeCLI/1.0.73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2026-05-07T01:38:00Z</dcterms:created>
  <cp:lastModifiedBy>OfficeCLI</cp:lastModifiedBy>
  <dcterms:modified xsi:type="dcterms:W3CDTF">2026-05-07T01:38:00Z</dcterms:modified>
</cp:coreProperties>
</file>
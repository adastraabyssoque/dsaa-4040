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Default Extension="png" ContentType="image/png"/>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officeDocument" Target="/ppt/presentation.xml" Id="R24ae7271f51e4597" /><Relationship Type="http://schemas.openxmlformats.org/package/2006/relationships/metadata/core-properties" Target="/docProps/core.xml" Id="Raf766f1b9e5b4b91" /><Relationship Type="http://schemas.openxmlformats.org/officeDocument/2006/relationships/extended-properties" Target="/docProps/app.xml" Id="R54032e85482546d2"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sldIdLst>
    <p:sldId id="256" r:id="R0e65ffec63984ed7"/>
    <p:sldId id="257" r:id="Reb329b9ac9aa4a47"/>
    <p:sldId id="258" r:id="R2a4d0befff1b4dd5"/>
    <p:sldId id="259" r:id="Rb5d41c4606684af2"/>
    <p:sldId id="260" r:id="Rc6ea7363589b4e99"/>
    <p:sldId id="261" r:id="R7a744b52adc243ab"/>
    <p:sldId id="262" r:id="Re8969b72a3534266"/>
    <p:sldId id="263" r:id="R4011236d8bf046ea"/>
    <p:sldId id="264" r:id="R6f43e8487a204976"/>
    <p:sldId id="265" r:id="Rd3f4dd8b10e64bbc"/>
    <p:sldId id="266" r:id="R74183c267c954c32"/>
    <p:sldId id="267" r:id="R94c69f4244924d60"/>
  </p:sldIdLst>
  <p:sldSz cx="12192000" cy="6858000"/>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0e65ffec63984ed7" /><Relationship Type="http://schemas.openxmlformats.org/officeDocument/2006/relationships/slide" Target="/ppt/slides/slide2.xml" Id="Reb329b9ac9aa4a47" /><Relationship Type="http://schemas.openxmlformats.org/officeDocument/2006/relationships/slide" Target="/ppt/slides/slide3.xml" Id="R2a4d0befff1b4dd5" /><Relationship Type="http://schemas.openxmlformats.org/officeDocument/2006/relationships/slide" Target="/ppt/slides/slide4.xml" Id="Rb5d41c4606684af2" /><Relationship Type="http://schemas.openxmlformats.org/officeDocument/2006/relationships/slide" Target="/ppt/slides/slide5.xml" Id="Rc6ea7363589b4e99" /><Relationship Type="http://schemas.openxmlformats.org/officeDocument/2006/relationships/slide" Target="/ppt/slides/slide6.xml" Id="R7a744b52adc243ab" /><Relationship Type="http://schemas.openxmlformats.org/officeDocument/2006/relationships/slide" Target="/ppt/slides/slide7.xml" Id="Re8969b72a3534266" /><Relationship Type="http://schemas.openxmlformats.org/officeDocument/2006/relationships/slide" Target="/ppt/slides/slide8.xml" Id="R4011236d8bf046ea" /><Relationship Type="http://schemas.openxmlformats.org/officeDocument/2006/relationships/slide" Target="/ppt/slides/slide9.xml" Id="R6f43e8487a204976" /><Relationship Type="http://schemas.openxmlformats.org/officeDocument/2006/relationships/slide" Target="/ppt/slides/slide10.xml" Id="Rd3f4dd8b10e64bbc" /><Relationship Type="http://schemas.openxmlformats.org/officeDocument/2006/relationships/slide" Target="/ppt/slides/slide11.xml" Id="R74183c267c954c32" /><Relationship Type="http://schemas.openxmlformats.org/officeDocument/2006/relationships/slide" Target="/ppt/slides/slide12.xml" Id="R94c69f4244924d6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OK, I'll get started. I'm presenting E1 — the cloud-native online bookstore, solo project. In the next 10 minutes I want to cover three things: what I built, how it's wired together, and proof that it actually runs. The first few slides go fast; from slide 5 onward I'll show real code, real curl output, and real database snapshots. Five minutes for Q&amp;A at the end.</a:t>
            </a:r>
          </a:p>
        </p:txBody>
      </p:sp>
    </p:spTree>
  </p:cSld>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Why E1 instead of one of the research projects? Because I wanted something I can demo end-to-end, not just a chart. The interesting part of E1 is not how much frontend logic I write — it's the cloud-native loop: container, expose, configure, scale, persist. I deliberately cut payments and real auth; I use a session_id to identify a cart and put my time on the Kubernetes side. On the right is a real docker compose ps — four containers: Postgres, Redis, FastAPI, Vue/Nginx. Each one maps to a Deployment or StatefulSet on the K8s side.</a:t>
            </a:r>
          </a:p>
        </p:txBody>
      </p:sp>
    </p:spTree>
  </p:cSld>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stack isn't improvised — it's exactly what I wrote in the proposal: Vue 3, FastAPI, PostgreSQL, Redis. The image on the left is a real curl to /api/health. I designed this endpoint to do two things at once: report the stack, and run a real SELECT 1 against Postgres plus a PING against Redis. K8s uses the same endpoint as the readiness probe, so a Pod only takes traffic if both dependencies are healthy.</a:t>
            </a:r>
          </a:p>
        </p:txBody>
      </p:sp>
    </p:spTree>
  </p:cSld>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longest path is browser → Vue → Nginx → FastAPI → Postgres or Redis. On the right is the real /api/books handler: cache_get returns immediately on hit, otherwise we query Postgres, build the response and cache_set with a 30 second TTL. Why 30 seconds? It's a trade-off — too long and stock is stale, too short and the cache is useless. To avoid showing stale stock right after an order, the order handler explicitly invalidates the catalog:* prefix as its last step.</a:t>
            </a:r>
          </a:p>
        </p:txBody>
      </p:sp>
    </p:spTree>
  </p:cSld>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is the slide I want people to question. Is Redis actually doing anything? I list the catalog keys, delete one to force a miss, and hit the same endpoint three times from Python. First call 24.7 ms — that's miss; the next two are 2.2 and 1.5 ms — that's hit. An order of magnitude. Redis is worth it here because the catalog is read-heavy and write-light. And one detail I'm proud of: cache_get and cache_set are fully wrapped in try/except, so if Redis dies the API silently falls back to Postgres instead of returning 500.</a:t>
            </a:r>
          </a:p>
        </p:txBody>
      </p:sp>
    </p:spTree>
  </p:cSld>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I deliberately validate every cart line first, before touching any stock. If any line fails I rollback and return 400 — no half-applied orders where one book was decremented and the next one failed. Only after success do I commit, refresh to get the timestamp, and then invalidate the Redis cache. The order matters: data has to land in Postgres before I clear the cache, otherwise the next read shows the old stock.</a:t>
            </a:r>
          </a:p>
        </p:txBody>
      </p:sp>
    </p:spTree>
  </p:cSld>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is the slide I want to be questioned on. The top terminal bypasses the UI and drives the API directly: two POSTs to /api/cart, one to /api/orders. I get back order id 5, total 92.98, status confirmed, both items present. The bottom one is psql — I exec into Postgres and SELECT, and Kubernetes in Action stock has dropped from 12 to 8, Spark Guide from 14 to 10. Those numbers correspond to the orders placed during this demo. So the whole pipeline — HTTP to ORM to database — is actually connected.</a:t>
            </a:r>
          </a:p>
        </p:txBody>
      </p:sp>
    </p:spTree>
  </p:cSld>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slide covers the K8s layer. I won't read every YAML — I'm showing the core: the backend Deployment. The line that matters is envFrom — ConfigMap holds non-secret connection info like DB_HOST and REDIS_HOST; Secret holds the password. The container code only sees env vars, no hard-coded credentials. That's exactly the Standard requirement from the proposal. Readiness and liveness both hit /api/health — same endpoint as earlier. Resources are set so HPA has a CPU signal. On the right: HPA is CPU 60%, replicas 2 to 8, exactly the proposal target. Postgres uses a StatefulSet with a PVC so it survives Pod restart; Redis is just a Deployment because the data can be rebuilt. Ingress routes by path.</a:t>
            </a:r>
          </a:p>
        </p:txBody>
      </p:sp>
    </p:spTree>
  </p:cSld>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Previous slide had the spec, this one has the run. I ran hey for 4 minutes, 50 concurrent workers capped at 80 RPS each — actual sustained ~1900 req/s. Top right is the kubectl get hpa -w log: TARGETS climbed from 14% to 141%; at 141 the controller computes desired = ceil(2 × 141/60) = 5, so REPLICAS steps to 3, 4, 5 over the next few sync intervals. Bottom right kubectl top pod shows 5 pods averaging 160-190m CPU — that's the 60% target. About 127 503s appear during the brief window where new pods aren't yet ready. After the load stops the 5-minute stabilization window has to elapse before scale-down — that's K8s default, not a bug. Next slide shows the same story in Grafana, more visually.</a:t>
            </a:r>
          </a:p>
        </p:txBody>
      </p:sp>
    </p:spTree>
  </p:cSld>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Real Grafana screenshot from the load run. RPS panel shows the 1900 req/s plateau hey pushed; CPU climbs across the 60% red threshold (the HPA target line); Replicas panel makes scale-out obvious — 2 → 3 → 4 → 5, each step lining up in time with the kubectl watch output on the previous slide. The p95 spike is the cold-start window — new pods not yet ready, old pods saturated. Once 4 pods are serving, latency settles back to 25-30 ms. After load stops, CPU drops immediately but replicas hold for the 5-minute K8s stabilization window before scaling down.</a:t>
            </a:r>
          </a:p>
        </p:txBody>
      </p:sp>
    </p:spTree>
  </p:cSld>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I haven't deployed the full Prometheus + Grafana stack yet — that's on the post-presentation list. But I exposed a /metrics endpoint in Prometheus text format. A middleware records every request path, so cart=50 and orders=12 here are real traffic from this session, not seeded data. The advantage of this shape is that hooking up Grafana later doesn't need a code change — just a ServiceMonitor. And the Live Deployment Snapshot card on the frontend homepage is essentially a user-facing translation of the same numbers.</a:t>
            </a:r>
          </a:p>
        </p:txBody>
      </p:sp>
    </p:spTree>
  </p:cSld>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Quick wrap-up. The four Engineering rubric areas are all covered: System design works end-to-end; Implementation has cache, transaction, error paths; Deployment exists as compose and full K8s manifests with HPA proven by load test; Completeness is shown via curl + psql + Grafana. Before May 21 I will: 1) replace hey with k6 across steady / burst / sustained scenarios; 2) write the report in the Engineering template; 3) record a 5-min final demo. Happy to take questions.</a:t>
            </a:r>
          </a:p>
        </p:txBody>
      </p:sp>
    </p:spTree>
  </p:cSld>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02a11c953d7486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d5f78c0aceb489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c2b1eae035f462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fa849f6799b497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938f651820147b3"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c05c40e62ecf4664"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e1ff697c796845af" /><Relationship Type="http://schemas.openxmlformats.org/officeDocument/2006/relationships/notesSlide" Target="/ppt/notesSlides/notesSlide1.xml" Id="R325f5db0b4b847a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b94e8dd668d405c" /><Relationship Type="http://schemas.openxmlformats.org/officeDocument/2006/relationships/image" Target="/ppt/media/image.png" Id="R0ea716e9da5b4fec" /><Relationship Type="http://schemas.openxmlformats.org/officeDocument/2006/relationships/notesSlide" Target="/ppt/notesSlides/notesSlide2.xml" Id="Rb66b55c254d341b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263f196e07344a8" /><Relationship Type="http://schemas.openxmlformats.org/officeDocument/2006/relationships/image" Target="/ppt/media/image2.png" Id="R636e81da09944f5c" /><Relationship Type="http://schemas.openxmlformats.org/officeDocument/2006/relationships/notesSlide" Target="/ppt/notesSlides/notesSlide3.xml" Id="Ra8146bc1d9df4a4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77d7d3a431c4d79" /><Relationship Type="http://schemas.openxmlformats.org/officeDocument/2006/relationships/image" Target="/ppt/media/image3.png" Id="Rc6cead04b0c4461b" /><Relationship Type="http://schemas.openxmlformats.org/officeDocument/2006/relationships/notesSlide" Target="/ppt/notesSlides/notesSlide4.xml" Id="R78d30c4f2644449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cccc320a526448e" /><Relationship Type="http://schemas.openxmlformats.org/officeDocument/2006/relationships/image" Target="/ppt/media/image4.png" Id="Rdbb026642d96477c" /><Relationship Type="http://schemas.openxmlformats.org/officeDocument/2006/relationships/notesSlide" Target="/ppt/notesSlides/notesSlide5.xml" Id="Rda84025e7af64e5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1d4ce6678b240b1" /><Relationship Type="http://schemas.openxmlformats.org/officeDocument/2006/relationships/image" Target="/ppt/media/image5.png" Id="R4bc9a2215b644c61" /><Relationship Type="http://schemas.openxmlformats.org/officeDocument/2006/relationships/notesSlide" Target="/ppt/notesSlides/notesSlide6.xml" Id="Ra13ab613264747f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acdcd7c5ed847e4" /><Relationship Type="http://schemas.openxmlformats.org/officeDocument/2006/relationships/image" Target="/ppt/media/image6.png" Id="R4b0d14fc371e4099" /><Relationship Type="http://schemas.openxmlformats.org/officeDocument/2006/relationships/image" Target="/ppt/media/image7.png" Id="R00c47531e561409f" /><Relationship Type="http://schemas.openxmlformats.org/officeDocument/2006/relationships/notesSlide" Target="/ppt/notesSlides/notesSlide7.xml" Id="R18b681794db042d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a27196595b943dc" /><Relationship Type="http://schemas.openxmlformats.org/officeDocument/2006/relationships/image" Target="/ppt/media/image8.png" Id="R7ade7d6cc61e4ade" /><Relationship Type="http://schemas.openxmlformats.org/officeDocument/2006/relationships/notesSlide" Target="/ppt/notesSlides/notesSlide8.xml" Id="R7ef157b5620b490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377f3fff34d423a" /><Relationship Type="http://schemas.openxmlformats.org/officeDocument/2006/relationships/image" Target="/ppt/media/image9.png" Id="R2a8f1b2462fe41de" /><Relationship Type="http://schemas.openxmlformats.org/officeDocument/2006/relationships/image" Target="/ppt/media/image10.png" Id="Ra4378ea97adb48a8" /><Relationship Type="http://schemas.openxmlformats.org/officeDocument/2006/relationships/notesSlide" Target="/ppt/notesSlides/notesSlide9.xml" Id="Re2184a34c6cd41f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74b21eaaa694cf0" /><Relationship Type="http://schemas.openxmlformats.org/officeDocument/2006/relationships/image" Target="/ppt/media/image11.png" Id="Rf7c65aba9ede4189" /><Relationship Type="http://schemas.openxmlformats.org/officeDocument/2006/relationships/notesSlide" Target="/ppt/notesSlides/notesSlide10.xml" Id="Ra1622834c69b496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275ed1e37414c89" /><Relationship Type="http://schemas.openxmlformats.org/officeDocument/2006/relationships/image" Target="/ppt/media/image12.png" Id="R9699962734d847a8" /><Relationship Type="http://schemas.openxmlformats.org/officeDocument/2006/relationships/notesSlide" Target="/ppt/notesSlides/notesSlide11.xml" Id="R086686136bc943d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c30f67b84d1499c" /><Relationship Type="http://schemas.openxmlformats.org/officeDocument/2006/relationships/notesSlide" Target="/ppt/notesSlides/notesSlide12.xml" Id="R80b838a75a334027" /></Relationships>
</file>

<file path=ppt/slides/slide1.xml><?xml version="1.0" encoding="utf-8"?>
<p:sld xmlns:a="http://schemas.openxmlformats.org/drawingml/2006/main" xmlns:p="http://schemas.openxmlformats.org/presentationml/2006/main">
  <p:cSld>
    <p:bg>
      <p:bgPr>
        <a:solidFill xmlns:a="http://schemas.openxmlformats.org/drawingml/2006/main">
          <a:srgbClr val="212121"/>
        </a:solidFill>
      </p:bgPr>
    </p:bg>
    <p:spTree>
      <p:nvGrpSpPr>
        <p:cNvPr id="1" name=""/>
        <p:cNvGrpSpPr/>
        <p:nvPr/>
      </p:nvGrpSpPr>
      <p:grpSpPr/>
      <p:sp>
        <p:nvSpPr>
          <p:cNvPr id="10000" name="TextBox 1"/>
          <p:cNvSpPr/>
          <p:nvPr/>
        </p:nvSpPr>
        <p:spPr>
          <a:xfrm xmlns:a="http://schemas.openxmlformats.org/drawingml/2006/main">
            <a:off x="576000" y="504000"/>
            <a:ext cx="9000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1400" b="0">
                <a:solidFill>
                  <a:srgbClr val="9AA3AC"/>
                </a:solidFill>
                <a:latin typeface="Calibri"/>
                <a:ea typeface="Microsoft YaHei"/>
              </a:rPr>
              <a:t>DSAA 4040  ·  Milestone 2  ·  Engineering E1</a:t>
            </a:r>
          </a:p>
        </p:txBody>
      </p:sp>
      <p:sp>
        <p:nvSpPr>
          <p:cNvPr id="10001" name="TextBox 2"/>
          <p:cNvSpPr/>
          <p:nvPr/>
        </p:nvSpPr>
        <p:spPr>
          <a:xfrm xmlns:a="http://schemas.openxmlformats.org/drawingml/2006/main">
            <a:off x="576000" y="1620000"/>
            <a:ext cx="9900000" cy="198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4600" b="1">
                <a:solidFill>
                  <a:srgbClr val="FFFDFB"/>
                </a:solidFill>
                <a:latin typeface="Georgia"/>
                <a:ea typeface="Microsoft YaHei"/>
              </a:rPr>
              <a:t>Cloud-Native Online Bookstore on Kubernetes</a:t>
            </a:r>
          </a:p>
        </p:txBody>
      </p:sp>
      <p:sp>
        <p:nvSpPr>
          <p:cNvPr id="10002" name="TextBox 3"/>
          <p:cNvSpPr/>
          <p:nvPr/>
        </p:nvSpPr>
        <p:spPr>
          <a:xfrm xmlns:a="http://schemas.openxmlformats.org/drawingml/2006/main">
            <a:off x="576000" y="3456000"/>
            <a:ext cx="9720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1800" b="0">
                <a:solidFill>
                  <a:srgbClr val="C7CDD2"/>
                </a:solidFill>
                <a:latin typeface="Calibri"/>
                <a:ea typeface="Microsoft YaHei"/>
              </a:rPr>
              <a:t>Vue 3 + FastAPI + PostgreSQL + Redis  ·  single-node Minikube</a:t>
            </a:r>
          </a:p>
        </p:txBody>
      </p:sp>
      <p:sp>
        <p:nvSpPr>
          <p:cNvPr id="10003" name="TextBox 4"/>
          <p:cNvSpPr/>
          <p:nvPr/>
        </p:nvSpPr>
        <p:spPr>
          <a:xfrm xmlns:a="http://schemas.openxmlformats.org/drawingml/2006/main">
            <a:off x="576000" y="5976000"/>
            <a:ext cx="8640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1300" b="0">
                <a:solidFill>
                  <a:srgbClr val="9AA3AC"/>
                </a:solidFill>
                <a:latin typeface="Calibri"/>
                <a:ea typeface="Microsoft YaHei"/>
              </a:rPr>
              <a:t>Bowen LIU  ·  50012962  ·  Solo Group  ·  May 7, 2026</a:t>
            </a:r>
          </a:p>
        </p:txBody>
      </p:sp>
      <p:sp>
        <p:nvSpPr>
          <p:cNvPr id="10004" name="TextBox 5"/>
          <p:cNvSpPr/>
          <p:nvPr/>
        </p:nvSpPr>
        <p:spPr>
          <a:xfrm xmlns:a="http://schemas.openxmlformats.org/drawingml/2006/main">
            <a:off x="576000" y="1332000"/>
            <a:ext cx="2520000" cy="64800"/>
          </a:xfrm>
          <a:prstGeom xmlns:a="http://schemas.openxmlformats.org/drawingml/2006/main" prst="rect">
            <a:avLst/>
          </a:prstGeom>
          <a:solidFill xmlns:a="http://schemas.openxmlformats.org/drawingml/2006/main">
            <a:srgbClr val="B85042"/>
          </a:solidFill>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1800" b="0">
                <a:solidFill>
                  <a:srgbClr val="212121"/>
                </a:solidFill>
                <a:latin typeface="Calibri"/>
                <a:ea typeface="Microsoft YaHei"/>
              </a:rPr>
              <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bg>
      <p:bgPr>
        <a:solidFill xmlns:a="http://schemas.openxmlformats.org/drawingml/2006/main">
          <a:srgbClr val="F2F2F2"/>
        </a:solidFill>
      </p:bgPr>
    </p:bg>
    <p:spTree>
      <p:nvGrpSpPr>
        <p:cNvPr id="1" name=""/>
        <p:cNvGrpSpPr/>
        <p:nvPr/>
      </p:nvGrpSpPr>
      <p:grpSpPr/>
      <p:sp>
        <p:nvSpPr>
          <p:cNvPr id="10005" name="TextBox 1"/>
          <p:cNvSpPr/>
          <p:nvPr/>
        </p:nvSpPr>
        <p:spPr>
          <a:xfrm xmlns:a="http://schemas.openxmlformats.org/drawingml/2006/main">
            <a:off x="432000" y="252000"/>
            <a:ext cx="612000" cy="378000"/>
          </a:xfrm>
          <a:prstGeom xmlns:a="http://schemas.openxmlformats.org/drawingml/2006/main" prst="roundRect">
            <a:avLst/>
          </a:prstGeom>
          <a:solidFill xmlns:a="http://schemas.openxmlformats.org/drawingml/2006/main">
            <a:srgbClr val="B85042"/>
          </a:solidFill>
          <a:ln xmlns:a="http://schemas.openxmlformats.org/drawingml/2006/main">
            <a:noFill/>
          </a:ln>
        </p:spPr>
        <p:txBody>
          <a:bodyPr xmlns:a="http://schemas.openxmlformats.org/drawingml/2006/main" lIns="64800" tIns="64800" rIns="64800" bIns="64800" anchor="ctr"/>
          <a:lstStyle xmlns:a="http://schemas.openxmlformats.org/drawingml/2006/main"/>
          <a:p xmlns:a="http://schemas.openxmlformats.org/drawingml/2006/main">
            <a:pPr algn="ctr"/>
            <a:r>
              <a:rPr lang="en-US" sz="1400" b="1">
                <a:solidFill>
                  <a:srgbClr val="FFFDFB"/>
                </a:solidFill>
                <a:latin typeface="Calibri"/>
                <a:ea typeface="Microsoft YaHei"/>
              </a:rPr>
              <a:t>02</a:t>
            </a:r>
          </a:p>
        </p:txBody>
      </p:sp>
      <p:sp>
        <p:nvSpPr>
          <p:cNvPr id="10006" name="TextBox 2"/>
          <p:cNvSpPr/>
          <p:nvPr/>
        </p:nvSpPr>
        <p:spPr>
          <a:xfrm xmlns:a="http://schemas.openxmlformats.org/drawingml/2006/main">
            <a:off x="1152000" y="252000"/>
            <a:ext cx="6480000" cy="37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ctr"/>
          <a:lstStyle xmlns:a="http://schemas.openxmlformats.org/drawingml/2006/main"/>
          <a:p xmlns:a="http://schemas.openxmlformats.org/drawingml/2006/main">
            <a:pPr algn="l"/>
            <a:r>
              <a:rPr lang="en-US" sz="1300" b="0">
                <a:solidFill>
                  <a:srgbClr val="5F6B73"/>
                </a:solidFill>
                <a:latin typeface="Calibri"/>
                <a:ea typeface="Microsoft YaHei"/>
              </a:rPr>
              <a:t>Motivation</a:t>
            </a:r>
          </a:p>
        </p:txBody>
      </p:sp>
      <p:sp>
        <p:nvSpPr>
          <p:cNvPr id="10007" name="TextBox 3"/>
          <p:cNvSpPr/>
          <p:nvPr/>
        </p:nvSpPr>
        <p:spPr>
          <a:xfrm xmlns:a="http://schemas.openxmlformats.org/drawingml/2006/main">
            <a:off x="432000" y="702000"/>
            <a:ext cx="11304000" cy="91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2800" b="1">
                <a:solidFill>
                  <a:srgbClr val="212121"/>
                </a:solidFill>
                <a:latin typeface="Georgia"/>
                <a:ea typeface="Microsoft YaHei"/>
              </a:rPr>
              <a:t>Why E1 instead of yet another React demo</a:t>
            </a:r>
          </a:p>
        </p:txBody>
      </p:sp>
      <p:sp>
        <p:nvSpPr>
          <p:cNvPr id="10008" name="TextBox 4"/>
          <p:cNvSpPr/>
          <p:nvPr/>
        </p:nvSpPr>
        <p:spPr>
          <a:xfrm xmlns:a="http://schemas.openxmlformats.org/drawingml/2006/main">
            <a:off x="432000" y="1530000"/>
            <a:ext cx="11304000" cy="18000"/>
          </a:xfrm>
          <a:prstGeom xmlns:a="http://schemas.openxmlformats.org/drawingml/2006/main" prst="rect">
            <a:avLst/>
          </a:prstGeom>
          <a:solidFill xmlns:a="http://schemas.openxmlformats.org/drawingml/2006/main">
            <a:srgbClr val="D6D6D6"/>
          </a:solidFill>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1800" b="0">
                <a:solidFill>
                  <a:srgbClr val="212121"/>
                </a:solidFill>
                <a:latin typeface="Calibri"/>
                <a:ea typeface="Microsoft YaHei"/>
              </a:rPr>
              <a:t/>
            </a:r>
          </a:p>
        </p:txBody>
      </p:sp>
      <p:sp>
        <p:nvSpPr>
          <p:cNvPr id="10009" name="TextBox 5"/>
          <p:cNvSpPr/>
          <p:nvPr/>
        </p:nvSpPr>
        <p:spPr>
          <a:xfrm xmlns:a="http://schemas.openxmlformats.org/drawingml/2006/main">
            <a:off x="432000" y="1746000"/>
            <a:ext cx="5184000" cy="446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1700" b="0">
                <a:solidFill>
                  <a:srgbClr val="212121"/>
                </a:solidFill>
                <a:latin typeface="Calibri"/>
                <a:ea typeface="Microsoft YaHei"/>
              </a:rPr>
              <a:t>Engineering track, focus is on:</a:t>
            </a:r>
          </a:p>
          <a:p xmlns:a="http://schemas.openxmlformats.org/drawingml/2006/main">
            <a:pPr algn="l"/>
            <a:r>
              <a:rPr lang="en-US" sz="1700" b="0">
                <a:solidFill>
                  <a:srgbClr val="212121"/>
                </a:solidFill>
                <a:latin typeface="Calibri"/>
                <a:ea typeface="Microsoft YaHei"/>
              </a:rPr>
              <a:t>• Real containers, not local processes</a:t>
            </a:r>
          </a:p>
          <a:p xmlns:a="http://schemas.openxmlformats.org/drawingml/2006/main">
            <a:pPr algn="l"/>
            <a:r>
              <a:rPr lang="en-US" sz="1700" b="0">
                <a:solidFill>
                  <a:srgbClr val="212121"/>
                </a:solidFill>
                <a:latin typeface="Calibri"/>
                <a:ea typeface="Microsoft YaHei"/>
              </a:rPr>
              <a:t>• Service / Ingress exposure</a:t>
            </a:r>
          </a:p>
          <a:p xmlns:a="http://schemas.openxmlformats.org/drawingml/2006/main">
            <a:pPr algn="l"/>
            <a:r>
              <a:rPr lang="en-US" sz="1700" b="0">
                <a:solidFill>
                  <a:srgbClr val="212121"/>
                </a:solidFill>
                <a:latin typeface="Calibri"/>
                <a:ea typeface="Microsoft YaHei"/>
              </a:rPr>
              <a:t>• ConfigMap + Secret separation</a:t>
            </a:r>
          </a:p>
          <a:p xmlns:a="http://schemas.openxmlformats.org/drawingml/2006/main">
            <a:pPr algn="l"/>
            <a:r>
              <a:rPr lang="en-US" sz="1700" b="0">
                <a:solidFill>
                  <a:srgbClr val="212121"/>
                </a:solidFill>
                <a:latin typeface="Calibri"/>
                <a:ea typeface="Microsoft YaHei"/>
              </a:rPr>
              <a:t>• HPA auto-scaling</a:t>
            </a:r>
          </a:p>
          <a:p xmlns:a="http://schemas.openxmlformats.org/drawingml/2006/main">
            <a:pPr algn="l"/>
            <a:r>
              <a:rPr lang="en-US" sz="1700" b="0">
                <a:solidFill>
                  <a:srgbClr val="212121"/>
                </a:solidFill>
                <a:latin typeface="Calibri"/>
                <a:ea typeface="Microsoft YaHei"/>
              </a:rPr>
              <a:t>• PVC so DB survives Pod restarts</a:t>
            </a:r>
          </a:p>
          <a:p xmlns:a="http://schemas.openxmlformats.org/drawingml/2006/main">
            <a:pPr algn="l"/>
            <a:r>
              <a:rPr lang="en-US" sz="1700" b="0">
                <a:solidFill>
                  <a:srgbClr val="212121"/>
                </a:solidFill>
                <a:latin typeface="Calibri"/>
                <a:ea typeface="Microsoft YaHei"/>
              </a:rPr>
              <a:t/>
            </a:r>
          </a:p>
          <a:p xmlns:a="http://schemas.openxmlformats.org/drawingml/2006/main">
            <a:pPr algn="l"/>
            <a:r>
              <a:rPr lang="en-US" sz="1700" b="0">
                <a:solidFill>
                  <a:srgbClr val="212121"/>
                </a:solidFill>
                <a:latin typeface="Calibri"/>
                <a:ea typeface="Microsoft YaHei"/>
              </a:rPr>
              <a:t>Scope I cut on purpose:</a:t>
            </a:r>
          </a:p>
          <a:p xmlns:a="http://schemas.openxmlformats.org/drawingml/2006/main">
            <a:pPr algn="l"/>
            <a:r>
              <a:rPr lang="en-US" sz="1700" b="0">
                <a:solidFill>
                  <a:srgbClr val="212121"/>
                </a:solidFill>
                <a:latin typeface="Calibri"/>
                <a:ea typeface="Microsoft YaHei"/>
              </a:rPr>
              <a:t>no payments, no real login —</a:t>
            </a:r>
          </a:p>
          <a:p xmlns:a="http://schemas.openxmlformats.org/drawingml/2006/main">
            <a:pPr algn="l"/>
            <a:r>
              <a:rPr lang="en-US" sz="1700" b="0">
                <a:solidFill>
                  <a:srgbClr val="212121"/>
                </a:solidFill>
                <a:latin typeface="Calibri"/>
                <a:ea typeface="Microsoft YaHei"/>
              </a:rPr>
              <a:t>session_id is enough to keep the cart,</a:t>
            </a:r>
          </a:p>
          <a:p xmlns:a="http://schemas.openxmlformats.org/drawingml/2006/main">
            <a:pPr algn="l"/>
            <a:r>
              <a:rPr lang="en-US" sz="1700" b="0">
                <a:solidFill>
                  <a:srgbClr val="212121"/>
                </a:solidFill>
                <a:latin typeface="Calibri"/>
                <a:ea typeface="Microsoft YaHei"/>
              </a:rPr>
              <a:t>and the time goes to K8s instead.</a:t>
            </a:r>
          </a:p>
        </p:txBody>
      </p:sp>
      <p:pic>
        <p:nvPicPr>
          <p:cNvPr id="10010" name="Picture 1" descr="docker compose ps"/>
          <p:cNvPicPr>
            <a:picLocks xmlns:a="http://schemas.openxmlformats.org/drawingml/2006/main" noChangeAspect="1"/>
          </p:cNvPicPr>
          <p:nvPr/>
        </p:nvPicPr>
        <p:blipFill>
          <a:blip xmlns:r="http://schemas.openxmlformats.org/officeDocument/2006/relationships" xmlns:a="http://schemas.openxmlformats.org/drawingml/2006/main" r:embed="R0ea716e9da5b4fec"/>
          <a:stretch xmlns:a="http://schemas.openxmlformats.org/drawingml/2006/main">
            <a:fillRect/>
          </a:stretch>
        </p:blipFill>
        <p:spPr>
          <a:xfrm xmlns:a="http://schemas.openxmlformats.org/drawingml/2006/main">
            <a:off x="5832000" y="3174125"/>
            <a:ext cx="5940000" cy="1355750"/>
          </a:xfrm>
          <a:prstGeom xmlns:a="http://schemas.openxmlformats.org/drawingml/2006/main" prst="rect">
            <a:avLst/>
          </a:prstGeom>
        </p:spPr>
      </p:pic>
      <p:sp>
        <p:nvSpPr>
          <p:cNvPr id="10011" name="TextBox 6"/>
          <p:cNvSpPr/>
          <p:nvPr/>
        </p:nvSpPr>
        <p:spPr>
          <a:xfrm xmlns:a="http://schemas.openxmlformats.org/drawingml/2006/main">
            <a:off x="5832000" y="6066000"/>
            <a:ext cx="5940000" cy="50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1100" b="0">
                <a:solidFill>
                  <a:srgbClr val="5F6B73"/>
                </a:solidFill>
                <a:latin typeface="Calibri"/>
                <a:ea typeface="Microsoft YaHei"/>
              </a:rPr>
              <a:t>One docker compose ps — four services, all up.</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bg>
      <p:bgPr>
        <a:solidFill xmlns:a="http://schemas.openxmlformats.org/drawingml/2006/main">
          <a:srgbClr val="F2F2F2"/>
        </a:solidFill>
      </p:bgPr>
    </p:bg>
    <p:spTree>
      <p:nvGrpSpPr>
        <p:cNvPr id="1" name=""/>
        <p:cNvGrpSpPr/>
        <p:nvPr/>
      </p:nvGrpSpPr>
      <p:grpSpPr/>
      <p:sp>
        <p:nvSpPr>
          <p:cNvPr id="10012" name="TextBox 1"/>
          <p:cNvSpPr/>
          <p:nvPr/>
        </p:nvSpPr>
        <p:spPr>
          <a:xfrm xmlns:a="http://schemas.openxmlformats.org/drawingml/2006/main">
            <a:off x="432000" y="252000"/>
            <a:ext cx="612000" cy="378000"/>
          </a:xfrm>
          <a:prstGeom xmlns:a="http://schemas.openxmlformats.org/drawingml/2006/main" prst="roundRect">
            <a:avLst/>
          </a:prstGeom>
          <a:solidFill xmlns:a="http://schemas.openxmlformats.org/drawingml/2006/main">
            <a:srgbClr val="B85042"/>
          </a:solidFill>
          <a:ln xmlns:a="http://schemas.openxmlformats.org/drawingml/2006/main">
            <a:noFill/>
          </a:ln>
        </p:spPr>
        <p:txBody>
          <a:bodyPr xmlns:a="http://schemas.openxmlformats.org/drawingml/2006/main" lIns="64800" tIns="64800" rIns="64800" bIns="64800" anchor="ctr"/>
          <a:lstStyle xmlns:a="http://schemas.openxmlformats.org/drawingml/2006/main"/>
          <a:p xmlns:a="http://schemas.openxmlformats.org/drawingml/2006/main">
            <a:pPr algn="ctr"/>
            <a:r>
              <a:rPr lang="en-US" sz="1400" b="1">
                <a:solidFill>
                  <a:srgbClr val="FFFDFB"/>
                </a:solidFill>
                <a:latin typeface="Calibri"/>
                <a:ea typeface="Microsoft YaHei"/>
              </a:rPr>
              <a:t>03</a:t>
            </a:r>
          </a:p>
        </p:txBody>
      </p:sp>
      <p:sp>
        <p:nvSpPr>
          <p:cNvPr id="10013" name="TextBox 2"/>
          <p:cNvSpPr/>
          <p:nvPr/>
        </p:nvSpPr>
        <p:spPr>
          <a:xfrm xmlns:a="http://schemas.openxmlformats.org/drawingml/2006/main">
            <a:off x="1152000" y="252000"/>
            <a:ext cx="6480000" cy="37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ctr"/>
          <a:lstStyle xmlns:a="http://schemas.openxmlformats.org/drawingml/2006/main"/>
          <a:p xmlns:a="http://schemas.openxmlformats.org/drawingml/2006/main">
            <a:pPr algn="l"/>
            <a:r>
              <a:rPr lang="en-US" sz="1300" b="0">
                <a:solidFill>
                  <a:srgbClr val="5F6B73"/>
                </a:solidFill>
                <a:latin typeface="Calibri"/>
                <a:ea typeface="Microsoft YaHei"/>
              </a:rPr>
              <a:t>Stack</a:t>
            </a:r>
          </a:p>
        </p:txBody>
      </p:sp>
      <p:sp>
        <p:nvSpPr>
          <p:cNvPr id="10014" name="TextBox 3"/>
          <p:cNvSpPr/>
          <p:nvPr/>
        </p:nvSpPr>
        <p:spPr>
          <a:xfrm xmlns:a="http://schemas.openxmlformats.org/drawingml/2006/main">
            <a:off x="432000" y="702000"/>
            <a:ext cx="11304000" cy="91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2800" b="1">
                <a:solidFill>
                  <a:srgbClr val="212121"/>
                </a:solidFill>
                <a:latin typeface="Georgia"/>
                <a:ea typeface="Microsoft YaHei"/>
              </a:rPr>
              <a:t>The stack matches my proposal exactly</a:t>
            </a:r>
          </a:p>
        </p:txBody>
      </p:sp>
      <p:sp>
        <p:nvSpPr>
          <p:cNvPr id="10015" name="TextBox 4"/>
          <p:cNvSpPr/>
          <p:nvPr/>
        </p:nvSpPr>
        <p:spPr>
          <a:xfrm xmlns:a="http://schemas.openxmlformats.org/drawingml/2006/main">
            <a:off x="432000" y="1530000"/>
            <a:ext cx="11304000" cy="18000"/>
          </a:xfrm>
          <a:prstGeom xmlns:a="http://schemas.openxmlformats.org/drawingml/2006/main" prst="rect">
            <a:avLst/>
          </a:prstGeom>
          <a:solidFill xmlns:a="http://schemas.openxmlformats.org/drawingml/2006/main">
            <a:srgbClr val="D6D6D6"/>
          </a:solidFill>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1800" b="0">
                <a:solidFill>
                  <a:srgbClr val="212121"/>
                </a:solidFill>
                <a:latin typeface="Calibri"/>
                <a:ea typeface="Microsoft YaHei"/>
              </a:rPr>
              <a:t/>
            </a:r>
          </a:p>
        </p:txBody>
      </p:sp>
      <p:pic>
        <p:nvPicPr>
          <p:cNvPr id="10016" name="Picture 1" descr="/api/health output"/>
          <p:cNvPicPr>
            <a:picLocks xmlns:a="http://schemas.openxmlformats.org/drawingml/2006/main" noChangeAspect="1"/>
          </p:cNvPicPr>
          <p:nvPr/>
        </p:nvPicPr>
        <p:blipFill>
          <a:blip xmlns:r="http://schemas.openxmlformats.org/officeDocument/2006/relationships" xmlns:a="http://schemas.openxmlformats.org/drawingml/2006/main" r:embed="R636e81da09944f5c"/>
          <a:stretch xmlns:a="http://schemas.openxmlformats.org/drawingml/2006/main">
            <a:fillRect/>
          </a:stretch>
        </p:blipFill>
        <p:spPr>
          <a:xfrm xmlns:a="http://schemas.openxmlformats.org/drawingml/2006/main">
            <a:off x="432000" y="2603115"/>
            <a:ext cx="5940000" cy="2497770"/>
          </a:xfrm>
          <a:prstGeom xmlns:a="http://schemas.openxmlformats.org/drawingml/2006/main" prst="rect">
            <a:avLst/>
          </a:prstGeom>
        </p:spPr>
      </p:pic>
      <p:sp>
        <p:nvSpPr>
          <p:cNvPr id="10017" name="TextBox 5"/>
          <p:cNvSpPr/>
          <p:nvPr/>
        </p:nvSpPr>
        <p:spPr>
          <a:xfrm xmlns:a="http://schemas.openxmlformats.org/drawingml/2006/main">
            <a:off x="6588000" y="1746000"/>
            <a:ext cx="5184000" cy="446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1700" b="0">
                <a:solidFill>
                  <a:srgbClr val="212121"/>
                </a:solidFill>
                <a:latin typeface="Calibri"/>
                <a:ea typeface="Microsoft YaHei"/>
              </a:rPr>
              <a:t>Frontend  Vue 3 + Vite + Bootstrap 5</a:t>
            </a:r>
          </a:p>
          <a:p xmlns:a="http://schemas.openxmlformats.org/drawingml/2006/main">
            <a:pPr algn="l"/>
            <a:r>
              <a:rPr lang="en-US" sz="1700" b="0">
                <a:solidFill>
                  <a:srgbClr val="212121"/>
                </a:solidFill>
                <a:latin typeface="Calibri"/>
                <a:ea typeface="Microsoft YaHei"/>
              </a:rPr>
              <a:t>Backend   FastAPI + SQLAlchemy + Uvicorn</a:t>
            </a:r>
          </a:p>
          <a:p xmlns:a="http://schemas.openxmlformats.org/drawingml/2006/main">
            <a:pPr algn="l"/>
            <a:r>
              <a:rPr lang="en-US" sz="1700" b="0">
                <a:solidFill>
                  <a:srgbClr val="212121"/>
                </a:solidFill>
                <a:latin typeface="Calibri"/>
                <a:ea typeface="Microsoft YaHei"/>
              </a:rPr>
              <a:t>Database  PostgreSQL 16</a:t>
            </a:r>
          </a:p>
          <a:p xmlns:a="http://schemas.openxmlformats.org/drawingml/2006/main">
            <a:pPr algn="l"/>
            <a:r>
              <a:rPr lang="en-US" sz="1700" b="0">
                <a:solidFill>
                  <a:srgbClr val="212121"/>
                </a:solidFill>
                <a:latin typeface="Calibri"/>
                <a:ea typeface="Microsoft YaHei"/>
              </a:rPr>
              <a:t>Cache     Redis 7 (catalog read path)</a:t>
            </a:r>
          </a:p>
          <a:p xmlns:a="http://schemas.openxmlformats.org/drawingml/2006/main">
            <a:pPr algn="l"/>
            <a:r>
              <a:rPr lang="en-US" sz="1700" b="0">
                <a:solidFill>
                  <a:srgbClr val="212121"/>
                </a:solidFill>
                <a:latin typeface="Calibri"/>
                <a:ea typeface="Microsoft YaHei"/>
              </a:rPr>
              <a:t>Orchestration  Kubernetes, single-node Minikube</a:t>
            </a:r>
          </a:p>
          <a:p xmlns:a="http://schemas.openxmlformats.org/drawingml/2006/main">
            <a:pPr algn="l"/>
            <a:r>
              <a:rPr lang="en-US" sz="1700" b="0">
                <a:solidFill>
                  <a:srgbClr val="212121"/>
                </a:solidFill>
                <a:latin typeface="Calibri"/>
                <a:ea typeface="Microsoft YaHei"/>
              </a:rPr>
              <a:t/>
            </a:r>
          </a:p>
          <a:p xmlns:a="http://schemas.openxmlformats.org/drawingml/2006/main">
            <a:pPr algn="l"/>
            <a:r>
              <a:rPr lang="en-US" sz="1700" b="0">
                <a:solidFill>
                  <a:srgbClr val="212121"/>
                </a:solidFill>
                <a:latin typeface="Calibri"/>
                <a:ea typeface="Microsoft YaHei"/>
              </a:rPr>
              <a:t>The /api/health endpoint literally</a:t>
            </a:r>
          </a:p>
          <a:p xmlns:a="http://schemas.openxmlformats.org/drawingml/2006/main">
            <a:pPr algn="l"/>
            <a:r>
              <a:rPr lang="en-US" sz="1700" b="0">
                <a:solidFill>
                  <a:srgbClr val="212121"/>
                </a:solidFill>
                <a:latin typeface="Calibri"/>
                <a:ea typeface="Microsoft YaHei"/>
              </a:rPr>
              <a:t>lists the stack under "stack" — and</a:t>
            </a:r>
          </a:p>
          <a:p xmlns:a="http://schemas.openxmlformats.org/drawingml/2006/main">
            <a:pPr algn="l"/>
            <a:r>
              <a:rPr lang="en-US" sz="1700" b="0">
                <a:solidFill>
                  <a:srgbClr val="212121"/>
                </a:solidFill>
                <a:latin typeface="Calibri"/>
                <a:ea typeface="Microsoft YaHei"/>
              </a:rPr>
              <a:t>checks both Postgres and Redis before</a:t>
            </a:r>
          </a:p>
          <a:p xmlns:a="http://schemas.openxmlformats.org/drawingml/2006/main">
            <a:pPr algn="l"/>
            <a:r>
              <a:rPr lang="en-US" sz="1700" b="0">
                <a:solidFill>
                  <a:srgbClr val="212121"/>
                </a:solidFill>
                <a:latin typeface="Calibri"/>
                <a:ea typeface="Microsoft YaHei"/>
              </a:rPr>
              <a:t>returning ok, so K8s reuses it as a probe.</a:t>
            </a:r>
          </a:p>
        </p:txBody>
      </p:sp>
      <p:sp>
        <p:nvSpPr>
          <p:cNvPr id="10018" name="TextBox 6"/>
          <p:cNvSpPr/>
          <p:nvPr/>
        </p:nvSpPr>
        <p:spPr>
          <a:xfrm xmlns:a="http://schemas.openxmlformats.org/drawingml/2006/main">
            <a:off x="432000" y="6066000"/>
            <a:ext cx="5940000" cy="50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1100" b="0">
                <a:solidFill>
                  <a:srgbClr val="5F6B73"/>
                </a:solidFill>
                <a:latin typeface="Calibri"/>
                <a:ea typeface="Microsoft YaHei"/>
              </a:rPr>
              <a:t>/api/health doubles as the readiness probe in K8s.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bg>
      <p:bgPr>
        <a:solidFill xmlns:a="http://schemas.openxmlformats.org/drawingml/2006/main">
          <a:srgbClr val="F2F2F2"/>
        </a:solidFill>
      </p:bgPr>
    </p:bg>
    <p:spTree>
      <p:nvGrpSpPr>
        <p:cNvPr id="1" name=""/>
        <p:cNvGrpSpPr/>
        <p:nvPr/>
      </p:nvGrpSpPr>
      <p:grpSpPr/>
      <p:sp>
        <p:nvSpPr>
          <p:cNvPr id="10019" name="TextBox 1"/>
          <p:cNvSpPr/>
          <p:nvPr/>
        </p:nvSpPr>
        <p:spPr>
          <a:xfrm xmlns:a="http://schemas.openxmlformats.org/drawingml/2006/main">
            <a:off x="432000" y="252000"/>
            <a:ext cx="612000" cy="378000"/>
          </a:xfrm>
          <a:prstGeom xmlns:a="http://schemas.openxmlformats.org/drawingml/2006/main" prst="roundRect">
            <a:avLst/>
          </a:prstGeom>
          <a:solidFill xmlns:a="http://schemas.openxmlformats.org/drawingml/2006/main">
            <a:srgbClr val="B85042"/>
          </a:solidFill>
          <a:ln xmlns:a="http://schemas.openxmlformats.org/drawingml/2006/main">
            <a:noFill/>
          </a:ln>
        </p:spPr>
        <p:txBody>
          <a:bodyPr xmlns:a="http://schemas.openxmlformats.org/drawingml/2006/main" lIns="64800" tIns="64800" rIns="64800" bIns="64800" anchor="ctr"/>
          <a:lstStyle xmlns:a="http://schemas.openxmlformats.org/drawingml/2006/main"/>
          <a:p xmlns:a="http://schemas.openxmlformats.org/drawingml/2006/main">
            <a:pPr algn="ctr"/>
            <a:r>
              <a:rPr lang="en-US" sz="1400" b="1">
                <a:solidFill>
                  <a:srgbClr val="FFFDFB"/>
                </a:solidFill>
                <a:latin typeface="Calibri"/>
                <a:ea typeface="Microsoft YaHei"/>
              </a:rPr>
              <a:t>04</a:t>
            </a:r>
          </a:p>
        </p:txBody>
      </p:sp>
      <p:sp>
        <p:nvSpPr>
          <p:cNvPr id="10020" name="TextBox 2"/>
          <p:cNvSpPr/>
          <p:nvPr/>
        </p:nvSpPr>
        <p:spPr>
          <a:xfrm xmlns:a="http://schemas.openxmlformats.org/drawingml/2006/main">
            <a:off x="1152000" y="252000"/>
            <a:ext cx="6480000" cy="37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ctr"/>
          <a:lstStyle xmlns:a="http://schemas.openxmlformats.org/drawingml/2006/main"/>
          <a:p xmlns:a="http://schemas.openxmlformats.org/drawingml/2006/main">
            <a:pPr algn="l"/>
            <a:r>
              <a:rPr lang="en-US" sz="1300" b="0">
                <a:solidFill>
                  <a:srgbClr val="5F6B73"/>
                </a:solidFill>
                <a:latin typeface="Calibri"/>
                <a:ea typeface="Microsoft YaHei"/>
              </a:rPr>
              <a:t>System design</a:t>
            </a:r>
          </a:p>
        </p:txBody>
      </p:sp>
      <p:sp>
        <p:nvSpPr>
          <p:cNvPr id="10021" name="TextBox 3"/>
          <p:cNvSpPr/>
          <p:nvPr/>
        </p:nvSpPr>
        <p:spPr>
          <a:xfrm xmlns:a="http://schemas.openxmlformats.org/drawingml/2006/main">
            <a:off x="432000" y="702000"/>
            <a:ext cx="11304000" cy="91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2800" b="1">
                <a:solidFill>
                  <a:srgbClr val="212121"/>
                </a:solidFill>
                <a:latin typeface="Georgia"/>
                <a:ea typeface="Microsoft YaHei"/>
              </a:rPr>
              <a:t>Request path: Vue → Nginx → FastAPI → Postgres/Redis</a:t>
            </a:r>
          </a:p>
        </p:txBody>
      </p:sp>
      <p:sp>
        <p:nvSpPr>
          <p:cNvPr id="10022" name="TextBox 4"/>
          <p:cNvSpPr/>
          <p:nvPr/>
        </p:nvSpPr>
        <p:spPr>
          <a:xfrm xmlns:a="http://schemas.openxmlformats.org/drawingml/2006/main">
            <a:off x="432000" y="1530000"/>
            <a:ext cx="11304000" cy="18000"/>
          </a:xfrm>
          <a:prstGeom xmlns:a="http://schemas.openxmlformats.org/drawingml/2006/main" prst="rect">
            <a:avLst/>
          </a:prstGeom>
          <a:solidFill xmlns:a="http://schemas.openxmlformats.org/drawingml/2006/main">
            <a:srgbClr val="D6D6D6"/>
          </a:solidFill>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1800" b="0">
                <a:solidFill>
                  <a:srgbClr val="212121"/>
                </a:solidFill>
                <a:latin typeface="Calibri"/>
                <a:ea typeface="Microsoft YaHei"/>
              </a:rPr>
              <a:t/>
            </a:r>
          </a:p>
        </p:txBody>
      </p:sp>
      <p:sp>
        <p:nvSpPr>
          <p:cNvPr id="10023" name="TextBox 5"/>
          <p:cNvSpPr/>
          <p:nvPr/>
        </p:nvSpPr>
        <p:spPr>
          <a:xfrm xmlns:a="http://schemas.openxmlformats.org/drawingml/2006/main">
            <a:off x="432000" y="1746000"/>
            <a:ext cx="5184000" cy="446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1700" b="0">
                <a:solidFill>
                  <a:srgbClr val="212121"/>
                </a:solidFill>
                <a:latin typeface="Calibri"/>
                <a:ea typeface="Microsoft YaHei"/>
              </a:rPr>
              <a:t>Browser → Vue SPA</a:t>
            </a:r>
          </a:p>
          <a:p xmlns:a="http://schemas.openxmlformats.org/drawingml/2006/main">
            <a:pPr algn="l"/>
            <a:r>
              <a:rPr lang="en-US" sz="1700" b="0">
                <a:solidFill>
                  <a:srgbClr val="212121"/>
                </a:solidFill>
                <a:latin typeface="Calibri"/>
                <a:ea typeface="Microsoft YaHei"/>
              </a:rPr>
              <a:t>Vue → /api/* → Nginx reverse proxy</a:t>
            </a:r>
          </a:p>
          <a:p xmlns:a="http://schemas.openxmlformats.org/drawingml/2006/main">
            <a:pPr algn="l"/>
            <a:r>
              <a:rPr lang="en-US" sz="1700" b="0">
                <a:solidFill>
                  <a:srgbClr val="212121"/>
                </a:solidFill>
                <a:latin typeface="Calibri"/>
                <a:ea typeface="Microsoft YaHei"/>
              </a:rPr>
              <a:t>Nginx → FastAPI Service:8000</a:t>
            </a:r>
          </a:p>
          <a:p xmlns:a="http://schemas.openxmlformats.org/drawingml/2006/main">
            <a:pPr algn="l"/>
            <a:r>
              <a:rPr lang="en-US" sz="1700" b="0">
                <a:solidFill>
                  <a:srgbClr val="212121"/>
                </a:solidFill>
                <a:latin typeface="Calibri"/>
                <a:ea typeface="Microsoft YaHei"/>
              </a:rPr>
              <a:t>FastAPI → Postgres  (source of truth)</a:t>
            </a:r>
          </a:p>
          <a:p xmlns:a="http://schemas.openxmlformats.org/drawingml/2006/main">
            <a:pPr algn="l"/>
            <a:r>
              <a:rPr lang="en-US" sz="1700" b="0">
                <a:solidFill>
                  <a:srgbClr val="212121"/>
                </a:solidFill>
                <a:latin typeface="Calibri"/>
                <a:ea typeface="Microsoft YaHei"/>
              </a:rPr>
              <a:t>FastAPI → Redis     (catalog read cache)</a:t>
            </a:r>
          </a:p>
          <a:p xmlns:a="http://schemas.openxmlformats.org/drawingml/2006/main">
            <a:pPr algn="l"/>
            <a:r>
              <a:rPr lang="en-US" sz="1700" b="0">
                <a:solidFill>
                  <a:srgbClr val="212121"/>
                </a:solidFill>
                <a:latin typeface="Calibri"/>
                <a:ea typeface="Microsoft YaHei"/>
              </a:rPr>
              <a:t/>
            </a:r>
          </a:p>
          <a:p xmlns:a="http://schemas.openxmlformats.org/drawingml/2006/main">
            <a:pPr algn="l"/>
            <a:r>
              <a:rPr lang="en-US" sz="1700" b="0">
                <a:solidFill>
                  <a:srgbClr val="212121"/>
                </a:solidFill>
                <a:latin typeface="Calibri"/>
                <a:ea typeface="Microsoft YaHei"/>
              </a:rPr>
              <a:t>/api/books checks Redis first.</a:t>
            </a:r>
          </a:p>
          <a:p xmlns:a="http://schemas.openxmlformats.org/drawingml/2006/main">
            <a:pPr algn="l"/>
            <a:r>
              <a:rPr lang="en-US" sz="1700" b="0">
                <a:solidFill>
                  <a:srgbClr val="212121"/>
                </a:solidFill>
                <a:latin typeface="Calibri"/>
                <a:ea typeface="Microsoft YaHei"/>
              </a:rPr>
              <a:t>Hit → return immediately.</a:t>
            </a:r>
          </a:p>
          <a:p xmlns:a="http://schemas.openxmlformats.org/drawingml/2006/main">
            <a:pPr algn="l"/>
            <a:r>
              <a:rPr lang="en-US" sz="1700" b="0">
                <a:solidFill>
                  <a:srgbClr val="212121"/>
                </a:solidFill>
                <a:latin typeface="Calibri"/>
                <a:ea typeface="Microsoft YaHei"/>
              </a:rPr>
              <a:t>Miss → query Postgres → write back</a:t>
            </a:r>
          </a:p>
          <a:p xmlns:a="http://schemas.openxmlformats.org/drawingml/2006/main">
            <a:pPr algn="l"/>
            <a:r>
              <a:rPr lang="en-US" sz="1700" b="0">
                <a:solidFill>
                  <a:srgbClr val="212121"/>
                </a:solidFill>
                <a:latin typeface="Calibri"/>
                <a:ea typeface="Microsoft YaHei"/>
              </a:rPr>
              <a:t>for 30s. After a successful order we</a:t>
            </a:r>
          </a:p>
          <a:p xmlns:a="http://schemas.openxmlformats.org/drawingml/2006/main">
            <a:pPr algn="l"/>
            <a:r>
              <a:rPr lang="en-US" sz="1700" b="0">
                <a:solidFill>
                  <a:srgbClr val="212121"/>
                </a:solidFill>
                <a:latin typeface="Calibri"/>
                <a:ea typeface="Microsoft YaHei"/>
              </a:rPr>
              <a:t>invalidate catalog:* so stock numbers</a:t>
            </a:r>
          </a:p>
          <a:p xmlns:a="http://schemas.openxmlformats.org/drawingml/2006/main">
            <a:pPr algn="l"/>
            <a:r>
              <a:rPr lang="en-US" sz="1700" b="0">
                <a:solidFill>
                  <a:srgbClr val="212121"/>
                </a:solidFill>
                <a:latin typeface="Calibri"/>
                <a:ea typeface="Microsoft YaHei"/>
              </a:rPr>
              <a:t>show the new value on the next read.</a:t>
            </a:r>
          </a:p>
        </p:txBody>
      </p:sp>
      <p:pic>
        <p:nvPicPr>
          <p:cNvPr id="10024" name="Picture 1" descr="FastAPI handler code"/>
          <p:cNvPicPr>
            <a:picLocks xmlns:a="http://schemas.openxmlformats.org/drawingml/2006/main" noChangeAspect="1"/>
          </p:cNvPicPr>
          <p:nvPr/>
        </p:nvPicPr>
        <p:blipFill>
          <a:blip xmlns:r="http://schemas.openxmlformats.org/officeDocument/2006/relationships" xmlns:a="http://schemas.openxmlformats.org/drawingml/2006/main" r:embed="Rc6cead04b0c4461b"/>
          <a:stretch xmlns:a="http://schemas.openxmlformats.org/drawingml/2006/main">
            <a:fillRect/>
          </a:stretch>
        </p:blipFill>
        <p:spPr>
          <a:xfrm xmlns:a="http://schemas.openxmlformats.org/drawingml/2006/main">
            <a:off x="5832000" y="1913400"/>
            <a:ext cx="5940000" cy="3877200"/>
          </a:xfrm>
          <a:prstGeom xmlns:a="http://schemas.openxmlformats.org/drawingml/2006/main" prst="rect">
            <a:avLst/>
          </a:prstGeom>
        </p:spPr>
      </p:pic>
      <p:sp>
        <p:nvSpPr>
          <p:cNvPr id="10025" name="TextBox 6"/>
          <p:cNvSpPr/>
          <p:nvPr/>
        </p:nvSpPr>
        <p:spPr>
          <a:xfrm xmlns:a="http://schemas.openxmlformats.org/drawingml/2006/main">
            <a:off x="5832000" y="6066000"/>
            <a:ext cx="5940000" cy="50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1100" b="0">
                <a:solidFill>
                  <a:srgbClr val="5F6B73"/>
                </a:solidFill>
                <a:latin typeface="Calibri"/>
                <a:ea typeface="Microsoft YaHei"/>
              </a:rPr>
              <a:t>Cache key naming lines up with the redis-cli output on the next slide.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bg>
      <p:bgPr>
        <a:solidFill xmlns:a="http://schemas.openxmlformats.org/drawingml/2006/main">
          <a:srgbClr val="F2F2F2"/>
        </a:solidFill>
      </p:bgPr>
    </p:bg>
    <p:spTree>
      <p:nvGrpSpPr>
        <p:cNvPr id="1" name=""/>
        <p:cNvGrpSpPr/>
        <p:nvPr/>
      </p:nvGrpSpPr>
      <p:grpSpPr/>
      <p:sp>
        <p:nvSpPr>
          <p:cNvPr id="10026" name="TextBox 1"/>
          <p:cNvSpPr/>
          <p:nvPr/>
        </p:nvSpPr>
        <p:spPr>
          <a:xfrm xmlns:a="http://schemas.openxmlformats.org/drawingml/2006/main">
            <a:off x="432000" y="252000"/>
            <a:ext cx="612000" cy="378000"/>
          </a:xfrm>
          <a:prstGeom xmlns:a="http://schemas.openxmlformats.org/drawingml/2006/main" prst="roundRect">
            <a:avLst/>
          </a:prstGeom>
          <a:solidFill xmlns:a="http://schemas.openxmlformats.org/drawingml/2006/main">
            <a:srgbClr val="B85042"/>
          </a:solidFill>
          <a:ln xmlns:a="http://schemas.openxmlformats.org/drawingml/2006/main">
            <a:noFill/>
          </a:ln>
        </p:spPr>
        <p:txBody>
          <a:bodyPr xmlns:a="http://schemas.openxmlformats.org/drawingml/2006/main" lIns="64800" tIns="64800" rIns="64800" bIns="64800" anchor="ctr"/>
          <a:lstStyle xmlns:a="http://schemas.openxmlformats.org/drawingml/2006/main"/>
          <a:p xmlns:a="http://schemas.openxmlformats.org/drawingml/2006/main">
            <a:pPr algn="ctr"/>
            <a:r>
              <a:rPr lang="en-US" sz="1400" b="1">
                <a:solidFill>
                  <a:srgbClr val="FFFDFB"/>
                </a:solidFill>
                <a:latin typeface="Calibri"/>
                <a:ea typeface="Microsoft YaHei"/>
              </a:rPr>
              <a:t>05</a:t>
            </a:r>
          </a:p>
        </p:txBody>
      </p:sp>
      <p:sp>
        <p:nvSpPr>
          <p:cNvPr id="10027" name="TextBox 2"/>
          <p:cNvSpPr/>
          <p:nvPr/>
        </p:nvSpPr>
        <p:spPr>
          <a:xfrm xmlns:a="http://schemas.openxmlformats.org/drawingml/2006/main">
            <a:off x="1152000" y="252000"/>
            <a:ext cx="6480000" cy="37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ctr"/>
          <a:lstStyle xmlns:a="http://schemas.openxmlformats.org/drawingml/2006/main"/>
          <a:p xmlns:a="http://schemas.openxmlformats.org/drawingml/2006/main">
            <a:pPr algn="l"/>
            <a:r>
              <a:rPr lang="en-US" sz="1300" b="0">
                <a:solidFill>
                  <a:srgbClr val="5F6B73"/>
                </a:solidFill>
                <a:latin typeface="Calibri"/>
                <a:ea typeface="Microsoft YaHei"/>
              </a:rPr>
              <a:t>Cache evidence</a:t>
            </a:r>
          </a:p>
        </p:txBody>
      </p:sp>
      <p:sp>
        <p:nvSpPr>
          <p:cNvPr id="10028" name="TextBox 3"/>
          <p:cNvSpPr/>
          <p:nvPr/>
        </p:nvSpPr>
        <p:spPr>
          <a:xfrm xmlns:a="http://schemas.openxmlformats.org/drawingml/2006/main">
            <a:off x="432000" y="702000"/>
            <a:ext cx="11304000" cy="91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2800" b="1">
                <a:solidFill>
                  <a:srgbClr val="212121"/>
                </a:solidFill>
                <a:latin typeface="Georgia"/>
                <a:ea typeface="Microsoft YaHei"/>
              </a:rPr>
              <a:t>miss 24.7 ms → hit 1.5 ms — an order of magnitude</a:t>
            </a:r>
          </a:p>
        </p:txBody>
      </p:sp>
      <p:sp>
        <p:nvSpPr>
          <p:cNvPr id="10029" name="TextBox 4"/>
          <p:cNvSpPr/>
          <p:nvPr/>
        </p:nvSpPr>
        <p:spPr>
          <a:xfrm xmlns:a="http://schemas.openxmlformats.org/drawingml/2006/main">
            <a:off x="432000" y="1530000"/>
            <a:ext cx="11304000" cy="18000"/>
          </a:xfrm>
          <a:prstGeom xmlns:a="http://schemas.openxmlformats.org/drawingml/2006/main" prst="rect">
            <a:avLst/>
          </a:prstGeom>
          <a:solidFill xmlns:a="http://schemas.openxmlformats.org/drawingml/2006/main">
            <a:srgbClr val="D6D6D6"/>
          </a:solidFill>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1800" b="0">
                <a:solidFill>
                  <a:srgbClr val="212121"/>
                </a:solidFill>
                <a:latin typeface="Calibri"/>
                <a:ea typeface="Microsoft YaHei"/>
              </a:rPr>
              <a:t/>
            </a:r>
          </a:p>
        </p:txBody>
      </p:sp>
      <p:sp>
        <p:nvSpPr>
          <p:cNvPr id="10030" name="TextBox 5"/>
          <p:cNvSpPr/>
          <p:nvPr/>
        </p:nvSpPr>
        <p:spPr>
          <a:xfrm xmlns:a="http://schemas.openxmlformats.org/drawingml/2006/main">
            <a:off x="432000" y="1746000"/>
            <a:ext cx="5184000" cy="446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1700" b="0">
                <a:solidFill>
                  <a:srgbClr val="212121"/>
                </a:solidFill>
                <a:latin typeface="Calibri"/>
                <a:ea typeface="Microsoft YaHei"/>
              </a:rPr>
              <a:t>Real terminal on the right:</a:t>
            </a:r>
          </a:p>
          <a:p xmlns:a="http://schemas.openxmlformats.org/drawingml/2006/main">
            <a:pPr algn="l"/>
            <a:r>
              <a:rPr lang="en-US" sz="1700" b="0">
                <a:solidFill>
                  <a:srgbClr val="212121"/>
                </a:solidFill>
                <a:latin typeface="Calibri"/>
                <a:ea typeface="Microsoft YaHei"/>
              </a:rPr>
              <a:t>1. redis-cli keys 'catalog:*' — three live keys, 19 s TTL each</a:t>
            </a:r>
          </a:p>
          <a:p xmlns:a="http://schemas.openxmlformats.org/drawingml/2006/main">
            <a:pPr algn="l"/>
            <a:r>
              <a:rPr lang="en-US" sz="1700" b="0">
                <a:solidFill>
                  <a:srgbClr val="212121"/>
                </a:solidFill>
                <a:latin typeface="Calibri"/>
                <a:ea typeface="Microsoft YaHei"/>
              </a:rPr>
              <a:t>2. DEL one key to force a miss</a:t>
            </a:r>
          </a:p>
          <a:p xmlns:a="http://schemas.openxmlformats.org/drawingml/2006/main">
            <a:pPr algn="l"/>
            <a:r>
              <a:rPr lang="en-US" sz="1700" b="0">
                <a:solidFill>
                  <a:srgbClr val="212121"/>
                </a:solidFill>
                <a:latin typeface="Calibri"/>
                <a:ea typeface="Microsoft YaHei"/>
              </a:rPr>
              <a:t>3. Hit the same endpoint three times:</a:t>
            </a:r>
          </a:p>
          <a:p xmlns:a="http://schemas.openxmlformats.org/drawingml/2006/main">
            <a:pPr algn="l"/>
            <a:r>
              <a:rPr lang="en-US" sz="1700" b="0">
                <a:solidFill>
                  <a:srgbClr val="212121"/>
                </a:solidFill>
                <a:latin typeface="Calibri"/>
                <a:ea typeface="Microsoft YaHei"/>
              </a:rPr>
              <a:t>   miss 24.7 ms / hit 2.2 ms / hit 1.5 ms</a:t>
            </a:r>
          </a:p>
          <a:p xmlns:a="http://schemas.openxmlformats.org/drawingml/2006/main">
            <a:pPr algn="l"/>
            <a:r>
              <a:rPr lang="en-US" sz="1700" b="0">
                <a:solidFill>
                  <a:srgbClr val="212121"/>
                </a:solidFill>
                <a:latin typeface="Calibri"/>
                <a:ea typeface="Microsoft YaHei"/>
              </a:rPr>
              <a:t/>
            </a:r>
          </a:p>
          <a:p xmlns:a="http://schemas.openxmlformats.org/drawingml/2006/main">
            <a:pPr algn="l"/>
            <a:r>
              <a:rPr lang="en-US" sz="1700" b="0">
                <a:solidFill>
                  <a:srgbClr val="212121"/>
                </a:solidFill>
                <a:latin typeface="Calibri"/>
                <a:ea typeface="Microsoft YaHei"/>
              </a:rPr>
              <a:t>Why this works:</a:t>
            </a:r>
          </a:p>
          <a:p xmlns:a="http://schemas.openxmlformats.org/drawingml/2006/main">
            <a:pPr algn="l"/>
            <a:r>
              <a:rPr lang="en-US" sz="1700" b="0">
                <a:solidFill>
                  <a:srgbClr val="212121"/>
                </a:solidFill>
                <a:latin typeface="Calibri"/>
                <a:ea typeface="Microsoft YaHei"/>
              </a:rPr>
              <a:t>• Catalog is read-heavy, write-light</a:t>
            </a:r>
          </a:p>
          <a:p xmlns:a="http://schemas.openxmlformats.org/drawingml/2006/main">
            <a:pPr algn="l"/>
            <a:r>
              <a:rPr lang="en-US" sz="1700" b="0">
                <a:solidFill>
                  <a:srgbClr val="212121"/>
                </a:solidFill>
                <a:latin typeface="Calibri"/>
                <a:ea typeface="Microsoft YaHei"/>
              </a:rPr>
              <a:t>• Postgres path is network + ORM parsing</a:t>
            </a:r>
          </a:p>
          <a:p xmlns:a="http://schemas.openxmlformats.org/drawingml/2006/main">
            <a:pPr algn="l"/>
            <a:r>
              <a:rPr lang="en-US" sz="1700" b="0">
                <a:solidFill>
                  <a:srgbClr val="212121"/>
                </a:solidFill>
                <a:latin typeface="Calibri"/>
                <a:ea typeface="Microsoft YaHei"/>
              </a:rPr>
              <a:t>• Redis hit is in-memory, single op</a:t>
            </a:r>
          </a:p>
          <a:p xmlns:a="http://schemas.openxmlformats.org/drawingml/2006/main">
            <a:pPr algn="l"/>
            <a:r>
              <a:rPr lang="en-US" sz="1700" b="0">
                <a:solidFill>
                  <a:srgbClr val="212121"/>
                </a:solidFill>
                <a:latin typeface="Calibri"/>
                <a:ea typeface="Microsoft YaHei"/>
              </a:rPr>
              <a:t>• Cache failure is swallowed and falls back to DB</a:t>
            </a:r>
          </a:p>
          <a:p xmlns:a="http://schemas.openxmlformats.org/drawingml/2006/main">
            <a:pPr algn="l"/>
            <a:r>
              <a:rPr lang="en-US" sz="1700" b="0">
                <a:solidFill>
                  <a:srgbClr val="212121"/>
                </a:solidFill>
                <a:latin typeface="Calibri"/>
                <a:ea typeface="Microsoft YaHei"/>
              </a:rPr>
              <a:t>  — Redis going down does NOT 500 the API</a:t>
            </a:r>
          </a:p>
        </p:txBody>
      </p:sp>
      <p:pic>
        <p:nvPicPr>
          <p:cNvPr id="10031" name="Picture 1" descr="redis-cli + miss/hit benchmark"/>
          <p:cNvPicPr>
            <a:picLocks xmlns:a="http://schemas.openxmlformats.org/drawingml/2006/main" noChangeAspect="1"/>
          </p:cNvPicPr>
          <p:nvPr/>
        </p:nvPicPr>
        <p:blipFill>
          <a:blip xmlns:r="http://schemas.openxmlformats.org/officeDocument/2006/relationships" xmlns:a="http://schemas.openxmlformats.org/drawingml/2006/main" r:embed="Rdbb026642d96477c"/>
          <a:stretch xmlns:a="http://schemas.openxmlformats.org/drawingml/2006/main">
            <a:fillRect/>
          </a:stretch>
        </p:blipFill>
        <p:spPr>
          <a:xfrm xmlns:a="http://schemas.openxmlformats.org/drawingml/2006/main">
            <a:off x="5832000" y="2499000"/>
            <a:ext cx="5940000" cy="2706000"/>
          </a:xfrm>
          <a:prstGeom xmlns:a="http://schemas.openxmlformats.org/drawingml/2006/main" prst="rect">
            <a:avLst/>
          </a:prstGeom>
        </p:spPr>
      </p:pic>
      <p:sp>
        <p:nvSpPr>
          <p:cNvPr id="10032" name="TextBox 6"/>
          <p:cNvSpPr/>
          <p:nvPr/>
        </p:nvSpPr>
        <p:spPr>
          <a:xfrm xmlns:a="http://schemas.openxmlformats.org/drawingml/2006/main">
            <a:off x="5832000" y="6066000"/>
            <a:ext cx="5940000" cy="50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1100" b="0">
                <a:solidFill>
                  <a:srgbClr val="5F6B73"/>
                </a:solidFill>
                <a:latin typeface="Calibri"/>
                <a:ea typeface="Microsoft YaHei"/>
              </a:rPr>
              <a:t>30 s TTL + write-after invalidate = at most one miss after a stock change.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bg>
      <p:bgPr>
        <a:solidFill xmlns:a="http://schemas.openxmlformats.org/drawingml/2006/main">
          <a:srgbClr val="F2F2F2"/>
        </a:solidFill>
      </p:bgPr>
    </p:bg>
    <p:spTree>
      <p:nvGrpSpPr>
        <p:cNvPr id="1" name=""/>
        <p:cNvGrpSpPr/>
        <p:nvPr/>
      </p:nvGrpSpPr>
      <p:grpSpPr/>
      <p:sp>
        <p:nvSpPr>
          <p:cNvPr id="10033" name="TextBox 1"/>
          <p:cNvSpPr/>
          <p:nvPr/>
        </p:nvSpPr>
        <p:spPr>
          <a:xfrm xmlns:a="http://schemas.openxmlformats.org/drawingml/2006/main">
            <a:off x="432000" y="252000"/>
            <a:ext cx="612000" cy="378000"/>
          </a:xfrm>
          <a:prstGeom xmlns:a="http://schemas.openxmlformats.org/drawingml/2006/main" prst="roundRect">
            <a:avLst/>
          </a:prstGeom>
          <a:solidFill xmlns:a="http://schemas.openxmlformats.org/drawingml/2006/main">
            <a:srgbClr val="B85042"/>
          </a:solidFill>
          <a:ln xmlns:a="http://schemas.openxmlformats.org/drawingml/2006/main">
            <a:noFill/>
          </a:ln>
        </p:spPr>
        <p:txBody>
          <a:bodyPr xmlns:a="http://schemas.openxmlformats.org/drawingml/2006/main" lIns="64800" tIns="64800" rIns="64800" bIns="64800" anchor="ctr"/>
          <a:lstStyle xmlns:a="http://schemas.openxmlformats.org/drawingml/2006/main"/>
          <a:p xmlns:a="http://schemas.openxmlformats.org/drawingml/2006/main">
            <a:pPr algn="ctr"/>
            <a:r>
              <a:rPr lang="en-US" sz="1400" b="1">
                <a:solidFill>
                  <a:srgbClr val="FFFDFB"/>
                </a:solidFill>
                <a:latin typeface="Calibri"/>
                <a:ea typeface="Microsoft YaHei"/>
              </a:rPr>
              <a:t>06</a:t>
            </a:r>
          </a:p>
        </p:txBody>
      </p:sp>
      <p:sp>
        <p:nvSpPr>
          <p:cNvPr id="10034" name="TextBox 2"/>
          <p:cNvSpPr/>
          <p:nvPr/>
        </p:nvSpPr>
        <p:spPr>
          <a:xfrm xmlns:a="http://schemas.openxmlformats.org/drawingml/2006/main">
            <a:off x="1152000" y="252000"/>
            <a:ext cx="6480000" cy="37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ctr"/>
          <a:lstStyle xmlns:a="http://schemas.openxmlformats.org/drawingml/2006/main"/>
          <a:p xmlns:a="http://schemas.openxmlformats.org/drawingml/2006/main">
            <a:pPr algn="l"/>
            <a:r>
              <a:rPr lang="en-US" sz="1300" b="0">
                <a:solidFill>
                  <a:srgbClr val="5F6B73"/>
                </a:solidFill>
                <a:latin typeface="Calibri"/>
                <a:ea typeface="Microsoft YaHei"/>
              </a:rPr>
              <a:t>Business correctness</a:t>
            </a:r>
          </a:p>
        </p:txBody>
      </p:sp>
      <p:sp>
        <p:nvSpPr>
          <p:cNvPr id="10035" name="TextBox 3"/>
          <p:cNvSpPr/>
          <p:nvPr/>
        </p:nvSpPr>
        <p:spPr>
          <a:xfrm xmlns:a="http://schemas.openxmlformats.org/drawingml/2006/main">
            <a:off x="432000" y="702000"/>
            <a:ext cx="11304000" cy="91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2800" b="1">
                <a:solidFill>
                  <a:srgbClr val="212121"/>
                </a:solidFill>
                <a:latin typeface="Georgia"/>
                <a:ea typeface="Microsoft YaHei"/>
              </a:rPr>
              <a:t>Order: stock check, transaction rollback, cache bust</a:t>
            </a:r>
          </a:p>
        </p:txBody>
      </p:sp>
      <p:sp>
        <p:nvSpPr>
          <p:cNvPr id="10036" name="TextBox 4"/>
          <p:cNvSpPr/>
          <p:nvPr/>
        </p:nvSpPr>
        <p:spPr>
          <a:xfrm xmlns:a="http://schemas.openxmlformats.org/drawingml/2006/main">
            <a:off x="432000" y="1530000"/>
            <a:ext cx="11304000" cy="18000"/>
          </a:xfrm>
          <a:prstGeom xmlns:a="http://schemas.openxmlformats.org/drawingml/2006/main" prst="rect">
            <a:avLst/>
          </a:prstGeom>
          <a:solidFill xmlns:a="http://schemas.openxmlformats.org/drawingml/2006/main">
            <a:srgbClr val="D6D6D6"/>
          </a:solidFill>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1800" b="0">
                <a:solidFill>
                  <a:srgbClr val="212121"/>
                </a:solidFill>
                <a:latin typeface="Calibri"/>
                <a:ea typeface="Microsoft YaHei"/>
              </a:rPr>
              <a:t/>
            </a:r>
          </a:p>
        </p:txBody>
      </p:sp>
      <p:sp>
        <p:nvSpPr>
          <p:cNvPr id="10037" name="TextBox 5"/>
          <p:cNvSpPr/>
          <p:nvPr/>
        </p:nvSpPr>
        <p:spPr>
          <a:xfrm xmlns:a="http://schemas.openxmlformats.org/drawingml/2006/main">
            <a:off x="432000" y="1746000"/>
            <a:ext cx="5184000" cy="446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1700" b="0">
                <a:solidFill>
                  <a:srgbClr val="212121"/>
                </a:solidFill>
                <a:latin typeface="Calibri"/>
                <a:ea typeface="Microsoft YaHei"/>
              </a:rPr>
              <a:t>Three things in one transaction:</a:t>
            </a:r>
          </a:p>
          <a:p xmlns:a="http://schemas.openxmlformats.org/drawingml/2006/main">
            <a:pPr algn="l"/>
            <a:r>
              <a:rPr lang="en-US" sz="1700" b="0">
                <a:solidFill>
                  <a:srgbClr val="212121"/>
                </a:solidFill>
                <a:latin typeface="Calibri"/>
                <a:ea typeface="Microsoft YaHei"/>
              </a:rPr>
              <a:t>1. Validate every line: stock ≥ qty</a:t>
            </a:r>
          </a:p>
          <a:p xmlns:a="http://schemas.openxmlformats.org/drawingml/2006/main">
            <a:pPr algn="l"/>
            <a:r>
              <a:rPr lang="en-US" sz="1700" b="0">
                <a:solidFill>
                  <a:srgbClr val="212121"/>
                </a:solidFill>
                <a:latin typeface="Calibri"/>
                <a:ea typeface="Microsoft YaHei"/>
              </a:rPr>
              <a:t>   otherwise rollback + 400</a:t>
            </a:r>
          </a:p>
          <a:p xmlns:a="http://schemas.openxmlformats.org/drawingml/2006/main">
            <a:pPr algn="l"/>
            <a:r>
              <a:rPr lang="en-US" sz="1700" b="0">
                <a:solidFill>
                  <a:srgbClr val="212121"/>
                </a:solidFill>
                <a:latin typeface="Calibri"/>
                <a:ea typeface="Microsoft YaHei"/>
              </a:rPr>
              <a:t>2. Decrement stock + insert OrderItem</a:t>
            </a:r>
          </a:p>
          <a:p xmlns:a="http://schemas.openxmlformats.org/drawingml/2006/main">
            <a:pPr algn="l"/>
            <a:r>
              <a:rPr lang="en-US" sz="1700" b="0">
                <a:solidFill>
                  <a:srgbClr val="212121"/>
                </a:solidFill>
                <a:latin typeface="Calibri"/>
                <a:ea typeface="Microsoft YaHei"/>
              </a:rPr>
              <a:t>3. Clear the cart</a:t>
            </a:r>
          </a:p>
          <a:p xmlns:a="http://schemas.openxmlformats.org/drawingml/2006/main">
            <a:pPr algn="l"/>
            <a:r>
              <a:rPr lang="en-US" sz="1700" b="0">
                <a:solidFill>
                  <a:srgbClr val="212121"/>
                </a:solidFill>
                <a:latin typeface="Calibri"/>
                <a:ea typeface="Microsoft YaHei"/>
              </a:rPr>
              <a:t/>
            </a:r>
          </a:p>
          <a:p xmlns:a="http://schemas.openxmlformats.org/drawingml/2006/main">
            <a:pPr algn="l"/>
            <a:r>
              <a:rPr lang="en-US" sz="1700" b="0">
                <a:solidFill>
                  <a:srgbClr val="212121"/>
                </a:solidFill>
                <a:latin typeface="Calibri"/>
                <a:ea typeface="Microsoft YaHei"/>
              </a:rPr>
              <a:t>Outside the transaction:</a:t>
            </a:r>
          </a:p>
          <a:p xmlns:a="http://schemas.openxmlformats.org/drawingml/2006/main">
            <a:pPr algn="l"/>
            <a:r>
              <a:rPr lang="en-US" sz="1700" b="0">
                <a:solidFill>
                  <a:srgbClr val="212121"/>
                </a:solidFill>
                <a:latin typeface="Calibri"/>
                <a:ea typeface="Microsoft YaHei"/>
              </a:rPr>
              <a:t>• commit + db.refresh(order) for created_at</a:t>
            </a:r>
          </a:p>
          <a:p xmlns:a="http://schemas.openxmlformats.org/drawingml/2006/main">
            <a:pPr algn="l"/>
            <a:r>
              <a:rPr lang="en-US" sz="1700" b="0">
                <a:solidFill>
                  <a:srgbClr val="212121"/>
                </a:solidFill>
                <a:latin typeface="Calibri"/>
                <a:ea typeface="Microsoft YaHei"/>
              </a:rPr>
              <a:t>• invalidate_catalog_cache()</a:t>
            </a:r>
          </a:p>
          <a:p xmlns:a="http://schemas.openxmlformats.org/drawingml/2006/main">
            <a:pPr algn="l"/>
            <a:r>
              <a:rPr lang="en-US" sz="1700" b="0">
                <a:solidFill>
                  <a:srgbClr val="212121"/>
                </a:solidFill>
                <a:latin typeface="Calibri"/>
                <a:ea typeface="Microsoft YaHei"/>
              </a:rPr>
              <a:t/>
            </a:r>
          </a:p>
          <a:p xmlns:a="http://schemas.openxmlformats.org/drawingml/2006/main">
            <a:pPr algn="l"/>
            <a:r>
              <a:rPr lang="en-US" sz="1700" b="0">
                <a:solidFill>
                  <a:srgbClr val="212121"/>
                </a:solidFill>
                <a:latin typeface="Calibri"/>
                <a:ea typeface="Microsoft YaHei"/>
              </a:rPr>
              <a:t>Next slide: real Postgres rows to prove</a:t>
            </a:r>
          </a:p>
          <a:p xmlns:a="http://schemas.openxmlformats.org/drawingml/2006/main">
            <a:pPr algn="l"/>
            <a:r>
              <a:rPr lang="en-US" sz="1700" b="0">
                <a:solidFill>
                  <a:srgbClr val="212121"/>
                </a:solidFill>
                <a:latin typeface="Calibri"/>
                <a:ea typeface="Microsoft YaHei"/>
              </a:rPr>
              <a:t>the data actually landed.</a:t>
            </a:r>
          </a:p>
        </p:txBody>
      </p:sp>
      <p:pic>
        <p:nvPicPr>
          <p:cNvPr id="10038" name="Picture 1" descr="place_order code"/>
          <p:cNvPicPr>
            <a:picLocks xmlns:a="http://schemas.openxmlformats.org/drawingml/2006/main" noChangeAspect="1"/>
          </p:cNvPicPr>
          <p:nvPr/>
        </p:nvPicPr>
        <p:blipFill>
          <a:blip xmlns:r="http://schemas.openxmlformats.org/officeDocument/2006/relationships" xmlns:a="http://schemas.openxmlformats.org/drawingml/2006/main" r:embed="R4bc9a2215b644c61"/>
          <a:stretch xmlns:a="http://schemas.openxmlformats.org/drawingml/2006/main">
            <a:fillRect/>
          </a:stretch>
        </p:blipFill>
        <p:spPr>
          <a:xfrm xmlns:a="http://schemas.openxmlformats.org/drawingml/2006/main">
            <a:off x="5832000" y="2065950"/>
            <a:ext cx="5940000" cy="3572100"/>
          </a:xfrm>
          <a:prstGeom xmlns:a="http://schemas.openxmlformats.org/drawingml/2006/main" prst="rect">
            <a:avLst/>
          </a:prstGeom>
        </p:spPr>
      </p:pic>
      <p:sp>
        <p:nvSpPr>
          <p:cNvPr id="10039" name="TextBox 6"/>
          <p:cNvSpPr/>
          <p:nvPr/>
        </p:nvSpPr>
        <p:spPr>
          <a:xfrm xmlns:a="http://schemas.openxmlformats.org/drawingml/2006/main">
            <a:off x="5832000" y="6066000"/>
            <a:ext cx="5940000" cy="50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1100" b="0">
                <a:solidFill>
                  <a:srgbClr val="5F6B73"/>
                </a:solidFill>
                <a:latin typeface="Calibri"/>
                <a:ea typeface="Microsoft YaHei"/>
              </a:rPr>
              <a:t>Insufficient-stock case rolls back atomically — no half-applied orders.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bg>
      <p:bgPr>
        <a:solidFill xmlns:a="http://schemas.openxmlformats.org/drawingml/2006/main">
          <a:srgbClr val="F2F2F2"/>
        </a:solidFill>
      </p:bgPr>
    </p:bg>
    <p:spTree>
      <p:nvGrpSpPr>
        <p:cNvPr id="1" name=""/>
        <p:cNvGrpSpPr/>
        <p:nvPr/>
      </p:nvGrpSpPr>
      <p:grpSpPr/>
      <p:sp>
        <p:nvSpPr>
          <p:cNvPr id="10040" name="TextBox 1"/>
          <p:cNvSpPr/>
          <p:nvPr/>
        </p:nvSpPr>
        <p:spPr>
          <a:xfrm xmlns:a="http://schemas.openxmlformats.org/drawingml/2006/main">
            <a:off x="432000" y="252000"/>
            <a:ext cx="612000" cy="378000"/>
          </a:xfrm>
          <a:prstGeom xmlns:a="http://schemas.openxmlformats.org/drawingml/2006/main" prst="roundRect">
            <a:avLst/>
          </a:prstGeom>
          <a:solidFill xmlns:a="http://schemas.openxmlformats.org/drawingml/2006/main">
            <a:srgbClr val="B85042"/>
          </a:solidFill>
          <a:ln xmlns:a="http://schemas.openxmlformats.org/drawingml/2006/main">
            <a:noFill/>
          </a:ln>
        </p:spPr>
        <p:txBody>
          <a:bodyPr xmlns:a="http://schemas.openxmlformats.org/drawingml/2006/main" lIns="64800" tIns="64800" rIns="64800" bIns="64800" anchor="ctr"/>
          <a:lstStyle xmlns:a="http://schemas.openxmlformats.org/drawingml/2006/main"/>
          <a:p xmlns:a="http://schemas.openxmlformats.org/drawingml/2006/main">
            <a:pPr algn="ctr"/>
            <a:r>
              <a:rPr lang="en-US" sz="1400" b="1">
                <a:solidFill>
                  <a:srgbClr val="FFFDFB"/>
                </a:solidFill>
                <a:latin typeface="Calibri"/>
                <a:ea typeface="Microsoft YaHei"/>
              </a:rPr>
              <a:t>07</a:t>
            </a:r>
          </a:p>
        </p:txBody>
      </p:sp>
      <p:sp>
        <p:nvSpPr>
          <p:cNvPr id="10041" name="TextBox 2"/>
          <p:cNvSpPr/>
          <p:nvPr/>
        </p:nvSpPr>
        <p:spPr>
          <a:xfrm xmlns:a="http://schemas.openxmlformats.org/drawingml/2006/main">
            <a:off x="1152000" y="252000"/>
            <a:ext cx="6480000" cy="37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ctr"/>
          <a:lstStyle xmlns:a="http://schemas.openxmlformats.org/drawingml/2006/main"/>
          <a:p xmlns:a="http://schemas.openxmlformats.org/drawingml/2006/main">
            <a:pPr algn="l"/>
            <a:r>
              <a:rPr lang="en-US" sz="1300" b="0">
                <a:solidFill>
                  <a:srgbClr val="5F6B73"/>
                </a:solidFill>
                <a:latin typeface="Calibri"/>
                <a:ea typeface="Microsoft YaHei"/>
              </a:rPr>
              <a:t>Demo evidence</a:t>
            </a:r>
          </a:p>
        </p:txBody>
      </p:sp>
      <p:sp>
        <p:nvSpPr>
          <p:cNvPr id="10042" name="TextBox 3"/>
          <p:cNvSpPr/>
          <p:nvPr/>
        </p:nvSpPr>
        <p:spPr>
          <a:xfrm xmlns:a="http://schemas.openxmlformats.org/drawingml/2006/main">
            <a:off x="432000" y="702000"/>
            <a:ext cx="11304000" cy="91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2800" b="1">
                <a:solidFill>
                  <a:srgbClr val="212121"/>
                </a:solidFill>
                <a:latin typeface="Georgia"/>
                <a:ea typeface="Microsoft YaHei"/>
              </a:rPr>
              <a:t>End-to-end order via API + matching Postgres rows</a:t>
            </a:r>
          </a:p>
        </p:txBody>
      </p:sp>
      <p:sp>
        <p:nvSpPr>
          <p:cNvPr id="10043" name="TextBox 4"/>
          <p:cNvSpPr/>
          <p:nvPr/>
        </p:nvSpPr>
        <p:spPr>
          <a:xfrm xmlns:a="http://schemas.openxmlformats.org/drawingml/2006/main">
            <a:off x="432000" y="1530000"/>
            <a:ext cx="11304000" cy="18000"/>
          </a:xfrm>
          <a:prstGeom xmlns:a="http://schemas.openxmlformats.org/drawingml/2006/main" prst="rect">
            <a:avLst/>
          </a:prstGeom>
          <a:solidFill xmlns:a="http://schemas.openxmlformats.org/drawingml/2006/main">
            <a:srgbClr val="D6D6D6"/>
          </a:solidFill>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1800" b="0">
                <a:solidFill>
                  <a:srgbClr val="212121"/>
                </a:solidFill>
                <a:latin typeface="Calibri"/>
                <a:ea typeface="Microsoft YaHei"/>
              </a:rPr>
              <a:t/>
            </a:r>
          </a:p>
        </p:txBody>
      </p:sp>
      <p:pic>
        <p:nvPicPr>
          <p:cNvPr id="10044" name="Picture 1" descr="curl POST cart twice + POST orders"/>
          <p:cNvPicPr>
            <a:picLocks xmlns:a="http://schemas.openxmlformats.org/drawingml/2006/main" noChangeAspect="1"/>
          </p:cNvPicPr>
          <p:nvPr/>
        </p:nvPicPr>
        <p:blipFill>
          <a:blip xmlns:r="http://schemas.openxmlformats.org/officeDocument/2006/relationships" xmlns:a="http://schemas.openxmlformats.org/drawingml/2006/main" r:embed="R4b0d14fc371e4099"/>
          <a:stretch xmlns:a="http://schemas.openxmlformats.org/drawingml/2006/main">
            <a:fillRect/>
          </a:stretch>
        </p:blipFill>
        <p:spPr>
          <a:xfrm xmlns:a="http://schemas.openxmlformats.org/drawingml/2006/main">
            <a:off x="452045" y="1692000"/>
            <a:ext cx="5647909" cy="2106000"/>
          </a:xfrm>
          <a:prstGeom xmlns:a="http://schemas.openxmlformats.org/drawingml/2006/main" prst="rect">
            <a:avLst/>
          </a:prstGeom>
        </p:spPr>
      </p:pic>
      <p:pic>
        <p:nvPicPr>
          <p:cNvPr id="10045" name="Picture 2" descr="SELECT from books table"/>
          <p:cNvPicPr>
            <a:picLocks xmlns:a="http://schemas.openxmlformats.org/drawingml/2006/main" noChangeAspect="1"/>
          </p:cNvPicPr>
          <p:nvPr/>
        </p:nvPicPr>
        <p:blipFill>
          <a:blip xmlns:r="http://schemas.openxmlformats.org/officeDocument/2006/relationships" xmlns:a="http://schemas.openxmlformats.org/drawingml/2006/main" r:embed="R00c47531e561409f"/>
          <a:stretch xmlns:a="http://schemas.openxmlformats.org/drawingml/2006/main">
            <a:fillRect/>
          </a:stretch>
        </p:blipFill>
        <p:spPr>
          <a:xfrm xmlns:a="http://schemas.openxmlformats.org/drawingml/2006/main">
            <a:off x="432000" y="4163339"/>
            <a:ext cx="5688000" cy="1735322"/>
          </a:xfrm>
          <a:prstGeom xmlns:a="http://schemas.openxmlformats.org/drawingml/2006/main" prst="rect">
            <a:avLst/>
          </a:prstGeom>
        </p:spPr>
      </p:pic>
      <p:sp>
        <p:nvSpPr>
          <p:cNvPr id="10046" name="TextBox 5"/>
          <p:cNvSpPr/>
          <p:nvPr/>
        </p:nvSpPr>
        <p:spPr>
          <a:xfrm xmlns:a="http://schemas.openxmlformats.org/drawingml/2006/main">
            <a:off x="6426000" y="1746000"/>
            <a:ext cx="5346000" cy="39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1700" b="0">
                <a:solidFill>
                  <a:srgbClr val="212121"/>
                </a:solidFill>
                <a:latin typeface="Calibri"/>
                <a:ea typeface="Microsoft YaHei"/>
              </a:rPr>
              <a:t>Top: bypass the UI, drive FastAPI directly</a:t>
            </a:r>
          </a:p>
          <a:p xmlns:a="http://schemas.openxmlformats.org/drawingml/2006/main">
            <a:pPr algn="l"/>
            <a:r>
              <a:rPr lang="en-US" sz="1700" b="0">
                <a:solidFill>
                  <a:srgbClr val="212121"/>
                </a:solidFill>
                <a:latin typeface="Calibri"/>
                <a:ea typeface="Microsoft YaHei"/>
              </a:rPr>
              <a:t>  • POST /api/cart twice</a:t>
            </a:r>
          </a:p>
          <a:p xmlns:a="http://schemas.openxmlformats.org/drawingml/2006/main">
            <a:pPr algn="l"/>
            <a:r>
              <a:rPr lang="en-US" sz="1700" b="0">
                <a:solidFill>
                  <a:srgbClr val="212121"/>
                </a:solidFill>
                <a:latin typeface="Calibri"/>
                <a:ea typeface="Microsoft YaHei"/>
              </a:rPr>
              <a:t>  • POST /api/orders → id 5, $92.98, confirmed</a:t>
            </a:r>
          </a:p>
          <a:p xmlns:a="http://schemas.openxmlformats.org/drawingml/2006/main">
            <a:pPr algn="l"/>
            <a:r>
              <a:rPr lang="en-US" sz="1700" b="0">
                <a:solidFill>
                  <a:srgbClr val="212121"/>
                </a:solidFill>
                <a:latin typeface="Calibri"/>
                <a:ea typeface="Microsoft YaHei"/>
              </a:rPr>
              <a:t>  • Both items present in the response</a:t>
            </a:r>
          </a:p>
          <a:p xmlns:a="http://schemas.openxmlformats.org/drawingml/2006/main">
            <a:pPr algn="l"/>
            <a:r>
              <a:rPr lang="en-US" sz="1700" b="0">
                <a:solidFill>
                  <a:srgbClr val="212121"/>
                </a:solidFill>
                <a:latin typeface="Calibri"/>
                <a:ea typeface="Microsoft YaHei"/>
              </a:rPr>
              <a:t/>
            </a:r>
          </a:p>
          <a:p xmlns:a="http://schemas.openxmlformats.org/drawingml/2006/main">
            <a:pPr algn="l"/>
            <a:r>
              <a:rPr lang="en-US" sz="1700" b="0">
                <a:solidFill>
                  <a:srgbClr val="212121"/>
                </a:solidFill>
                <a:latin typeface="Calibri"/>
                <a:ea typeface="Microsoft YaHei"/>
              </a:rPr>
              <a:t>Bottom: docker exec into Postgres + SELECT</a:t>
            </a:r>
          </a:p>
          <a:p xmlns:a="http://schemas.openxmlformats.org/drawingml/2006/main">
            <a:pPr algn="l"/>
            <a:r>
              <a:rPr lang="en-US" sz="1700" b="0">
                <a:solidFill>
                  <a:srgbClr val="212121"/>
                </a:solidFill>
                <a:latin typeface="Calibri"/>
                <a:ea typeface="Microsoft YaHei"/>
              </a:rPr>
              <a:t>  • Kubernetes in Action stock 12 → 8</a:t>
            </a:r>
          </a:p>
          <a:p xmlns:a="http://schemas.openxmlformats.org/drawingml/2006/main">
            <a:pPr algn="l"/>
            <a:r>
              <a:rPr lang="en-US" sz="1700" b="0">
                <a:solidFill>
                  <a:srgbClr val="212121"/>
                </a:solidFill>
                <a:latin typeface="Calibri"/>
                <a:ea typeface="Microsoft YaHei"/>
              </a:rPr>
              <a:t>  • Spark Guide stock 14 → 10</a:t>
            </a:r>
          </a:p>
          <a:p xmlns:a="http://schemas.openxmlformats.org/drawingml/2006/main">
            <a:pPr algn="l"/>
            <a:r>
              <a:rPr lang="en-US" sz="1700" b="0">
                <a:solidFill>
                  <a:srgbClr val="212121"/>
                </a:solidFill>
                <a:latin typeface="Calibri"/>
                <a:ea typeface="Microsoft YaHei"/>
              </a:rPr>
              <a:t>  matches the orders placed during demo.</a:t>
            </a:r>
          </a:p>
        </p:txBody>
      </p:sp>
      <p:sp>
        <p:nvSpPr>
          <p:cNvPr id="10047" name="TextBox 6"/>
          <p:cNvSpPr/>
          <p:nvPr/>
        </p:nvSpPr>
        <p:spPr>
          <a:xfrm xmlns:a="http://schemas.openxmlformats.org/drawingml/2006/main">
            <a:off x="6426000" y="6066000"/>
            <a:ext cx="5346000" cy="50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1100" b="0">
                <a:solidFill>
                  <a:srgbClr val="5F6B73"/>
                </a:solidFill>
                <a:latin typeface="Calibri"/>
                <a:ea typeface="Microsoft YaHei"/>
              </a:rPr>
              <a:t>Two screenshots = HTTP → ORM → Postgres really wired up. Not mocked.</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bg>
      <p:bgPr>
        <a:solidFill xmlns:a="http://schemas.openxmlformats.org/drawingml/2006/main">
          <a:srgbClr val="F2F2F2"/>
        </a:solidFill>
      </p:bgPr>
    </p:bg>
    <p:spTree>
      <p:nvGrpSpPr>
        <p:cNvPr id="1" name=""/>
        <p:cNvGrpSpPr/>
        <p:nvPr/>
      </p:nvGrpSpPr>
      <p:grpSpPr/>
      <p:sp>
        <p:nvSpPr>
          <p:cNvPr id="10048" name="TextBox 1"/>
          <p:cNvSpPr/>
          <p:nvPr/>
        </p:nvSpPr>
        <p:spPr>
          <a:xfrm xmlns:a="http://schemas.openxmlformats.org/drawingml/2006/main">
            <a:off x="432000" y="252000"/>
            <a:ext cx="612000" cy="378000"/>
          </a:xfrm>
          <a:prstGeom xmlns:a="http://schemas.openxmlformats.org/drawingml/2006/main" prst="roundRect">
            <a:avLst/>
          </a:prstGeom>
          <a:solidFill xmlns:a="http://schemas.openxmlformats.org/drawingml/2006/main">
            <a:srgbClr val="B85042"/>
          </a:solidFill>
          <a:ln xmlns:a="http://schemas.openxmlformats.org/drawingml/2006/main">
            <a:noFill/>
          </a:ln>
        </p:spPr>
        <p:txBody>
          <a:bodyPr xmlns:a="http://schemas.openxmlformats.org/drawingml/2006/main" lIns="64800" tIns="64800" rIns="64800" bIns="64800" anchor="ctr"/>
          <a:lstStyle xmlns:a="http://schemas.openxmlformats.org/drawingml/2006/main"/>
          <a:p xmlns:a="http://schemas.openxmlformats.org/drawingml/2006/main">
            <a:pPr algn="ctr"/>
            <a:r>
              <a:rPr lang="en-US" sz="1400" b="1">
                <a:solidFill>
                  <a:srgbClr val="FFFDFB"/>
                </a:solidFill>
                <a:latin typeface="Calibri"/>
                <a:ea typeface="Microsoft YaHei"/>
              </a:rPr>
              <a:t>08</a:t>
            </a:r>
          </a:p>
        </p:txBody>
      </p:sp>
      <p:sp>
        <p:nvSpPr>
          <p:cNvPr id="10049" name="TextBox 2"/>
          <p:cNvSpPr/>
          <p:nvPr/>
        </p:nvSpPr>
        <p:spPr>
          <a:xfrm xmlns:a="http://schemas.openxmlformats.org/drawingml/2006/main">
            <a:off x="1152000" y="252000"/>
            <a:ext cx="6480000" cy="37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ctr"/>
          <a:lstStyle xmlns:a="http://schemas.openxmlformats.org/drawingml/2006/main"/>
          <a:p xmlns:a="http://schemas.openxmlformats.org/drawingml/2006/main">
            <a:pPr algn="l"/>
            <a:r>
              <a:rPr lang="en-US" sz="1300" b="0">
                <a:solidFill>
                  <a:srgbClr val="5F6B73"/>
                </a:solidFill>
                <a:latin typeface="Calibri"/>
                <a:ea typeface="Microsoft YaHei"/>
              </a:rPr>
              <a:t>Kubernetes</a:t>
            </a:r>
          </a:p>
        </p:txBody>
      </p:sp>
      <p:sp>
        <p:nvSpPr>
          <p:cNvPr id="10050" name="TextBox 3"/>
          <p:cNvSpPr/>
          <p:nvPr/>
        </p:nvSpPr>
        <p:spPr>
          <a:xfrm xmlns:a="http://schemas.openxmlformats.org/drawingml/2006/main">
            <a:off x="432000" y="702000"/>
            <a:ext cx="11304000" cy="91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2800" b="1">
                <a:solidFill>
                  <a:srgbClr val="212121"/>
                </a:solidFill>
                <a:latin typeface="Georgia"/>
                <a:ea typeface="Microsoft YaHei"/>
              </a:rPr>
              <a:t>Declarative deploy: Postgres stateful, FastAPI scales 2→8</a:t>
            </a:r>
          </a:p>
        </p:txBody>
      </p:sp>
      <p:sp>
        <p:nvSpPr>
          <p:cNvPr id="10051" name="TextBox 4"/>
          <p:cNvSpPr/>
          <p:nvPr/>
        </p:nvSpPr>
        <p:spPr>
          <a:xfrm xmlns:a="http://schemas.openxmlformats.org/drawingml/2006/main">
            <a:off x="432000" y="1530000"/>
            <a:ext cx="11304000" cy="18000"/>
          </a:xfrm>
          <a:prstGeom xmlns:a="http://schemas.openxmlformats.org/drawingml/2006/main" prst="rect">
            <a:avLst/>
          </a:prstGeom>
          <a:solidFill xmlns:a="http://schemas.openxmlformats.org/drawingml/2006/main">
            <a:srgbClr val="D6D6D6"/>
          </a:solidFill>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1800" b="0">
                <a:solidFill>
                  <a:srgbClr val="212121"/>
                </a:solidFill>
                <a:latin typeface="Calibri"/>
                <a:ea typeface="Microsoft YaHei"/>
              </a:rPr>
              <a:t/>
            </a:r>
          </a:p>
        </p:txBody>
      </p:sp>
      <p:pic>
        <p:nvPicPr>
          <p:cNvPr id="10052" name="Picture 1" descr="FastAPI Deployment manifest"/>
          <p:cNvPicPr>
            <a:picLocks xmlns:a="http://schemas.openxmlformats.org/drawingml/2006/main" noChangeAspect="1"/>
          </p:cNvPicPr>
          <p:nvPr/>
        </p:nvPicPr>
        <p:blipFill>
          <a:blip xmlns:r="http://schemas.openxmlformats.org/officeDocument/2006/relationships" xmlns:a="http://schemas.openxmlformats.org/drawingml/2006/main" r:embed="R7ade7d6cc61e4ade"/>
          <a:stretch xmlns:a="http://schemas.openxmlformats.org/drawingml/2006/main">
            <a:fillRect/>
          </a:stretch>
        </p:blipFill>
        <p:spPr>
          <a:xfrm xmlns:a="http://schemas.openxmlformats.org/drawingml/2006/main">
            <a:off x="432000" y="2229300"/>
            <a:ext cx="5940000" cy="3245400"/>
          </a:xfrm>
          <a:prstGeom xmlns:a="http://schemas.openxmlformats.org/drawingml/2006/main" prst="rect">
            <a:avLst/>
          </a:prstGeom>
        </p:spPr>
      </p:pic>
      <p:sp>
        <p:nvSpPr>
          <p:cNvPr id="10053" name="TextBox 5"/>
          <p:cNvSpPr/>
          <p:nvPr/>
        </p:nvSpPr>
        <p:spPr>
          <a:xfrm xmlns:a="http://schemas.openxmlformats.org/drawingml/2006/main">
            <a:off x="6588000" y="1746000"/>
            <a:ext cx="5184000" cy="446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1700" b="0">
                <a:solidFill>
                  <a:srgbClr val="212121"/>
                </a:solidFill>
                <a:latin typeface="Calibri"/>
                <a:ea typeface="Microsoft YaHei"/>
              </a:rPr>
              <a:t>Real backend Deployment on the left:</a:t>
            </a:r>
          </a:p>
          <a:p xmlns:a="http://schemas.openxmlformats.org/drawingml/2006/main">
            <a:pPr algn="l"/>
            <a:r>
              <a:rPr lang="en-US" sz="1700" b="0">
                <a:solidFill>
                  <a:srgbClr val="212121"/>
                </a:solidFill>
                <a:latin typeface="Calibri"/>
                <a:ea typeface="Microsoft YaHei"/>
              </a:rPr>
              <a:t>  envFrom injects ConfigMap + Secret</a:t>
            </a:r>
          </a:p>
          <a:p xmlns:a="http://schemas.openxmlformats.org/drawingml/2006/main">
            <a:pPr algn="l"/>
            <a:r>
              <a:rPr lang="en-US" sz="1700" b="0">
                <a:solidFill>
                  <a:srgbClr val="212121"/>
                </a:solidFill>
                <a:latin typeface="Calibri"/>
                <a:ea typeface="Microsoft YaHei"/>
              </a:rPr>
              <a:t>  readiness/liveness both hit /api/health</a:t>
            </a:r>
          </a:p>
          <a:p xmlns:a="http://schemas.openxmlformats.org/drawingml/2006/main">
            <a:pPr algn="l"/>
            <a:r>
              <a:rPr lang="en-US" sz="1700" b="0">
                <a:solidFill>
                  <a:srgbClr val="212121"/>
                </a:solidFill>
                <a:latin typeface="Calibri"/>
                <a:ea typeface="Microsoft YaHei"/>
              </a:rPr>
              <a:t>  resources give HPA a CPU signal</a:t>
            </a:r>
          </a:p>
          <a:p xmlns:a="http://schemas.openxmlformats.org/drawingml/2006/main">
            <a:pPr algn="l"/>
            <a:r>
              <a:rPr lang="en-US" sz="1700" b="0">
                <a:solidFill>
                  <a:srgbClr val="212121"/>
                </a:solidFill>
                <a:latin typeface="Calibri"/>
                <a:ea typeface="Microsoft YaHei"/>
              </a:rPr>
              <a:t/>
            </a:r>
          </a:p>
          <a:p xmlns:a="http://schemas.openxmlformats.org/drawingml/2006/main">
            <a:pPr algn="l"/>
            <a:r>
              <a:rPr lang="en-US" sz="1700" b="0">
                <a:solidFill>
                  <a:srgbClr val="212121"/>
                </a:solidFill>
                <a:latin typeface="Calibri"/>
                <a:ea typeface="Microsoft YaHei"/>
              </a:rPr>
              <a:t>HPA: CPU 60% → replicas 2 → 8</a:t>
            </a:r>
          </a:p>
          <a:p xmlns:a="http://schemas.openxmlformats.org/drawingml/2006/main">
            <a:pPr algn="l"/>
            <a:r>
              <a:rPr lang="en-US" sz="1700" b="0">
                <a:solidFill>
                  <a:srgbClr val="212121"/>
                </a:solidFill>
                <a:latin typeface="Calibri"/>
                <a:ea typeface="Microsoft YaHei"/>
              </a:rPr>
              <a:t>  same target I wrote in the proposal</a:t>
            </a:r>
          </a:p>
          <a:p xmlns:a="http://schemas.openxmlformats.org/drawingml/2006/main">
            <a:pPr algn="l"/>
            <a:r>
              <a:rPr lang="en-US" sz="1700" b="0">
                <a:solidFill>
                  <a:srgbClr val="212121"/>
                </a:solidFill>
                <a:latin typeface="Calibri"/>
                <a:ea typeface="Microsoft YaHei"/>
              </a:rPr>
              <a:t>Postgres: StatefulSet + PVC (data must stay)</a:t>
            </a:r>
          </a:p>
          <a:p xmlns:a="http://schemas.openxmlformats.org/drawingml/2006/main">
            <a:pPr algn="l"/>
            <a:r>
              <a:rPr lang="en-US" sz="1700" b="0">
                <a:solidFill>
                  <a:srgbClr val="212121"/>
                </a:solidFill>
                <a:latin typeface="Calibri"/>
                <a:ea typeface="Microsoft YaHei"/>
              </a:rPr>
              <a:t>Redis: Deployment (data is rebuildable)</a:t>
            </a:r>
          </a:p>
          <a:p xmlns:a="http://schemas.openxmlformats.org/drawingml/2006/main">
            <a:pPr algn="l"/>
            <a:r>
              <a:rPr lang="en-US" sz="1700" b="0">
                <a:solidFill>
                  <a:srgbClr val="212121"/>
                </a:solidFill>
                <a:latin typeface="Calibri"/>
                <a:ea typeface="Microsoft YaHei"/>
              </a:rPr>
              <a:t>Ingress: /api → backend, / → frontend</a:t>
            </a:r>
          </a:p>
        </p:txBody>
      </p:sp>
      <p:sp>
        <p:nvSpPr>
          <p:cNvPr id="10054" name="TextBox 6"/>
          <p:cNvSpPr/>
          <p:nvPr/>
        </p:nvSpPr>
        <p:spPr>
          <a:xfrm xmlns:a="http://schemas.openxmlformats.org/drawingml/2006/main">
            <a:off x="432000" y="6066000"/>
            <a:ext cx="5940000" cy="50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1100" b="0">
                <a:solidFill>
                  <a:srgbClr val="5F6B73"/>
                </a:solidFill>
                <a:latin typeface="Calibri"/>
                <a:ea typeface="Microsoft YaHei"/>
              </a:rPr>
              <a:t>ConfigMap = non-secret config, Secret = passwords. Container only sees env vars.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bg>
      <p:bgPr>
        <a:solidFill xmlns:a="http://schemas.openxmlformats.org/drawingml/2006/main">
          <a:srgbClr val="F2F2F2"/>
        </a:solidFill>
      </p:bgPr>
    </p:bg>
    <p:spTree>
      <p:nvGrpSpPr>
        <p:cNvPr id="1" name=""/>
        <p:cNvGrpSpPr/>
        <p:nvPr/>
      </p:nvGrpSpPr>
      <p:grpSpPr/>
      <p:sp>
        <p:nvSpPr>
          <p:cNvPr id="10055" name="TextBox 1"/>
          <p:cNvSpPr/>
          <p:nvPr/>
        </p:nvSpPr>
        <p:spPr>
          <a:xfrm xmlns:a="http://schemas.openxmlformats.org/drawingml/2006/main">
            <a:off x="432000" y="252000"/>
            <a:ext cx="612000" cy="378000"/>
          </a:xfrm>
          <a:prstGeom xmlns:a="http://schemas.openxmlformats.org/drawingml/2006/main" prst="roundRect">
            <a:avLst/>
          </a:prstGeom>
          <a:solidFill xmlns:a="http://schemas.openxmlformats.org/drawingml/2006/main">
            <a:srgbClr val="B85042"/>
          </a:solidFill>
          <a:ln xmlns:a="http://schemas.openxmlformats.org/drawingml/2006/main">
            <a:noFill/>
          </a:ln>
        </p:spPr>
        <p:txBody>
          <a:bodyPr xmlns:a="http://schemas.openxmlformats.org/drawingml/2006/main" lIns="64800" tIns="64800" rIns="64800" bIns="64800" anchor="ctr"/>
          <a:lstStyle xmlns:a="http://schemas.openxmlformats.org/drawingml/2006/main"/>
          <a:p xmlns:a="http://schemas.openxmlformats.org/drawingml/2006/main">
            <a:pPr algn="ctr"/>
            <a:r>
              <a:rPr lang="en-US" sz="1400" b="1">
                <a:solidFill>
                  <a:srgbClr val="FFFDFB"/>
                </a:solidFill>
                <a:latin typeface="Calibri"/>
                <a:ea typeface="Microsoft YaHei"/>
              </a:rPr>
              <a:t>09</a:t>
            </a:r>
          </a:p>
        </p:txBody>
      </p:sp>
      <p:sp>
        <p:nvSpPr>
          <p:cNvPr id="10056" name="TextBox 2"/>
          <p:cNvSpPr/>
          <p:nvPr/>
        </p:nvSpPr>
        <p:spPr>
          <a:xfrm xmlns:a="http://schemas.openxmlformats.org/drawingml/2006/main">
            <a:off x="1152000" y="252000"/>
            <a:ext cx="6480000" cy="37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ctr"/>
          <a:lstStyle xmlns:a="http://schemas.openxmlformats.org/drawingml/2006/main"/>
          <a:p xmlns:a="http://schemas.openxmlformats.org/drawingml/2006/main">
            <a:pPr algn="l"/>
            <a:r>
              <a:rPr lang="en-US" sz="1300" b="0">
                <a:solidFill>
                  <a:srgbClr val="5F6B73"/>
                </a:solidFill>
                <a:latin typeface="Calibri"/>
                <a:ea typeface="Microsoft YaHei"/>
              </a:rPr>
              <a:t>HPA load test</a:t>
            </a:r>
          </a:p>
        </p:txBody>
      </p:sp>
      <p:sp>
        <p:nvSpPr>
          <p:cNvPr id="10057" name="TextBox 3"/>
          <p:cNvSpPr/>
          <p:nvPr/>
        </p:nvSpPr>
        <p:spPr>
          <a:xfrm xmlns:a="http://schemas.openxmlformats.org/drawingml/2006/main">
            <a:off x="432000" y="702000"/>
            <a:ext cx="11304000" cy="91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2800" b="1">
                <a:solidFill>
                  <a:srgbClr val="212121"/>
                </a:solidFill>
                <a:latin typeface="Georgia"/>
                <a:ea typeface="Microsoft YaHei"/>
              </a:rPr>
              <a:t>Hammer the API and watch HPA scale 2 → 5</a:t>
            </a:r>
          </a:p>
        </p:txBody>
      </p:sp>
      <p:sp>
        <p:nvSpPr>
          <p:cNvPr id="10058" name="TextBox 4"/>
          <p:cNvSpPr/>
          <p:nvPr/>
        </p:nvSpPr>
        <p:spPr>
          <a:xfrm xmlns:a="http://schemas.openxmlformats.org/drawingml/2006/main">
            <a:off x="432000" y="1530000"/>
            <a:ext cx="11304000" cy="18000"/>
          </a:xfrm>
          <a:prstGeom xmlns:a="http://schemas.openxmlformats.org/drawingml/2006/main" prst="rect">
            <a:avLst/>
          </a:prstGeom>
          <a:solidFill xmlns:a="http://schemas.openxmlformats.org/drawingml/2006/main">
            <a:srgbClr val="D6D6D6"/>
          </a:solidFill>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1800" b="0">
                <a:solidFill>
                  <a:srgbClr val="212121"/>
                </a:solidFill>
                <a:latin typeface="Calibri"/>
                <a:ea typeface="Microsoft YaHei"/>
              </a:rPr>
              <a:t/>
            </a:r>
          </a:p>
        </p:txBody>
      </p:sp>
      <p:pic>
        <p:nvPicPr>
          <p:cNvPr id="10059" name="Picture 1" descr="kubectl get hpa -w showing scale events"/>
          <p:cNvPicPr>
            <a:picLocks xmlns:a="http://schemas.openxmlformats.org/drawingml/2006/main" noChangeAspect="1"/>
          </p:cNvPicPr>
          <p:nvPr/>
        </p:nvPicPr>
        <p:blipFill>
          <a:blip xmlns:r="http://schemas.openxmlformats.org/officeDocument/2006/relationships" xmlns:a="http://schemas.openxmlformats.org/drawingml/2006/main" r:embed="R2a8f1b2462fe41de"/>
          <a:stretch xmlns:a="http://schemas.openxmlformats.org/drawingml/2006/main">
            <a:fillRect/>
          </a:stretch>
        </p:blipFill>
        <p:spPr>
          <a:xfrm xmlns:a="http://schemas.openxmlformats.org/drawingml/2006/main">
            <a:off x="432000" y="1785753"/>
            <a:ext cx="5688000" cy="1918495"/>
          </a:xfrm>
          <a:prstGeom xmlns:a="http://schemas.openxmlformats.org/drawingml/2006/main" prst="rect">
            <a:avLst/>
          </a:prstGeom>
        </p:spPr>
      </p:pic>
      <p:pic>
        <p:nvPicPr>
          <p:cNvPr id="10060" name="Picture 2" descr="kubectl top pod after scale-out"/>
          <p:cNvPicPr>
            <a:picLocks xmlns:a="http://schemas.openxmlformats.org/drawingml/2006/main" noChangeAspect="1"/>
          </p:cNvPicPr>
          <p:nvPr/>
        </p:nvPicPr>
        <p:blipFill>
          <a:blip xmlns:r="http://schemas.openxmlformats.org/officeDocument/2006/relationships" xmlns:a="http://schemas.openxmlformats.org/drawingml/2006/main" r:embed="Ra4378ea97adb48a8"/>
          <a:stretch xmlns:a="http://schemas.openxmlformats.org/drawingml/2006/main">
            <a:fillRect/>
          </a:stretch>
        </p:blipFill>
        <p:spPr>
          <a:xfrm xmlns:a="http://schemas.openxmlformats.org/drawingml/2006/main">
            <a:off x="1010658" y="3978000"/>
            <a:ext cx="4530684" cy="2106000"/>
          </a:xfrm>
          <a:prstGeom xmlns:a="http://schemas.openxmlformats.org/drawingml/2006/main" prst="rect">
            <a:avLst/>
          </a:prstGeom>
        </p:spPr>
      </p:pic>
      <p:sp>
        <p:nvSpPr>
          <p:cNvPr id="10061" name="TextBox 5"/>
          <p:cNvSpPr/>
          <p:nvPr/>
        </p:nvSpPr>
        <p:spPr>
          <a:xfrm xmlns:a="http://schemas.openxmlformats.org/drawingml/2006/main">
            <a:off x="6426000" y="1746000"/>
            <a:ext cx="5346000" cy="39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1700" b="0">
                <a:solidFill>
                  <a:srgbClr val="212121"/>
                </a:solidFill>
                <a:latin typeface="Calibri"/>
                <a:ea typeface="Microsoft YaHei"/>
              </a:rPr>
              <a:t>Load script:</a:t>
            </a:r>
          </a:p>
          <a:p xmlns:a="http://schemas.openxmlformats.org/drawingml/2006/main">
            <a:pPr algn="l"/>
            <a:r>
              <a:rPr lang="en-US" sz="1700" b="0">
                <a:solidFill>
                  <a:srgbClr val="212121"/>
                </a:solidFill>
                <a:latin typeface="Calibri"/>
                <a:ea typeface="Microsoft YaHei"/>
              </a:rPr>
              <a:t>  hey -z 4m -c 50 -q 80 /api/books?q=cloud</a:t>
            </a:r>
          </a:p>
          <a:p xmlns:a="http://schemas.openxmlformats.org/drawingml/2006/main">
            <a:pPr algn="l"/>
            <a:r>
              <a:rPr lang="en-US" sz="1700" b="0">
                <a:solidFill>
                  <a:srgbClr val="212121"/>
                </a:solidFill>
                <a:latin typeface="Calibri"/>
                <a:ea typeface="Microsoft YaHei"/>
              </a:rPr>
              <a:t>  → ~2000 req/s sustained for 4 min</a:t>
            </a:r>
          </a:p>
          <a:p xmlns:a="http://schemas.openxmlformats.org/drawingml/2006/main">
            <a:pPr algn="l"/>
            <a:r>
              <a:rPr lang="en-US" sz="1700" b="0">
                <a:solidFill>
                  <a:srgbClr val="212121"/>
                </a:solidFill>
                <a:latin typeface="Calibri"/>
                <a:ea typeface="Microsoft YaHei"/>
              </a:rPr>
              <a:t/>
            </a:r>
          </a:p>
          <a:p xmlns:a="http://schemas.openxmlformats.org/drawingml/2006/main">
            <a:pPr algn="l"/>
            <a:r>
              <a:rPr lang="en-US" sz="1700" b="0">
                <a:solidFill>
                  <a:srgbClr val="212121"/>
                </a:solidFill>
                <a:latin typeface="Calibri"/>
                <a:ea typeface="Microsoft YaHei"/>
              </a:rPr>
              <a:t>Timeline (HPA syncs every 15s):</a:t>
            </a:r>
          </a:p>
          <a:p xmlns:a="http://schemas.openxmlformats.org/drawingml/2006/main">
            <a:pPr algn="l"/>
            <a:r>
              <a:rPr lang="en-US" sz="1700" b="0">
                <a:solidFill>
                  <a:srgbClr val="212121"/>
                </a:solidFill>
                <a:latin typeface="Calibri"/>
                <a:ea typeface="Microsoft YaHei"/>
              </a:rPr>
              <a:t>  t+30s  CPU jumps to 124%/60% → scale up</a:t>
            </a:r>
          </a:p>
          <a:p xmlns:a="http://schemas.openxmlformats.org/drawingml/2006/main">
            <a:pPr algn="l"/>
            <a:r>
              <a:rPr lang="en-US" sz="1700" b="0">
                <a:solidFill>
                  <a:srgbClr val="212121"/>
                </a:solidFill>
                <a:latin typeface="Calibri"/>
                <a:ea typeface="Microsoft YaHei"/>
              </a:rPr>
              <a:t>  t+45s  REPLICAS 2 → 3 → 4</a:t>
            </a:r>
          </a:p>
          <a:p xmlns:a="http://schemas.openxmlformats.org/drawingml/2006/main">
            <a:pPr algn="l"/>
            <a:r>
              <a:rPr lang="en-US" sz="1700" b="0">
                <a:solidFill>
                  <a:srgbClr val="212121"/>
                </a:solidFill>
                <a:latin typeface="Calibri"/>
                <a:ea typeface="Microsoft YaHei"/>
              </a:rPr>
              <a:t>  t+78s  → 5  (CPU drops to 58%)</a:t>
            </a:r>
          </a:p>
          <a:p xmlns:a="http://schemas.openxmlformats.org/drawingml/2006/main">
            <a:pPr algn="l"/>
            <a:r>
              <a:rPr lang="en-US" sz="1700" b="0">
                <a:solidFill>
                  <a:srgbClr val="212121"/>
                </a:solidFill>
                <a:latin typeface="Calibri"/>
                <a:ea typeface="Microsoft YaHei"/>
              </a:rPr>
              <a:t>  t+8m   load stops → 5min stab. window</a:t>
            </a:r>
          </a:p>
          <a:p xmlns:a="http://schemas.openxmlformats.org/drawingml/2006/main">
            <a:pPr algn="l"/>
            <a:r>
              <a:rPr lang="en-US" sz="1700" b="0">
                <a:solidFill>
                  <a:srgbClr val="212121"/>
                </a:solidFill>
                <a:latin typeface="Calibri"/>
                <a:ea typeface="Microsoft YaHei"/>
              </a:rPr>
              <a:t>  t+17m  scaled back to 2</a:t>
            </a:r>
          </a:p>
          <a:p xmlns:a="http://schemas.openxmlformats.org/drawingml/2006/main">
            <a:pPr algn="l"/>
            <a:r>
              <a:rPr lang="en-US" sz="1700" b="0">
                <a:solidFill>
                  <a:srgbClr val="212121"/>
                </a:solidFill>
                <a:latin typeface="Calibri"/>
                <a:ea typeface="Microsoft YaHei"/>
              </a:rPr>
              <a:t/>
            </a:r>
          </a:p>
          <a:p xmlns:a="http://schemas.openxmlformats.org/drawingml/2006/main">
            <a:pPr algn="l"/>
            <a:r>
              <a:rPr lang="en-US" sz="1700" b="0">
                <a:solidFill>
                  <a:srgbClr val="212121"/>
                </a:solidFill>
                <a:latin typeface="Calibri"/>
                <a:ea typeface="Microsoft YaHei"/>
              </a:rPr>
              <a:t>Scale formula:</a:t>
            </a:r>
          </a:p>
          <a:p xmlns:a="http://schemas.openxmlformats.org/drawingml/2006/main">
            <a:pPr algn="l"/>
            <a:r>
              <a:rPr lang="en-US" sz="1700" b="0">
                <a:solidFill>
                  <a:srgbClr val="212121"/>
                </a:solidFill>
                <a:latin typeface="Calibri"/>
                <a:ea typeface="Microsoft YaHei"/>
              </a:rPr>
              <a:t>  desired = ceil(2 × (124 / 60)) = 5</a:t>
            </a:r>
          </a:p>
        </p:txBody>
      </p:sp>
      <p:sp>
        <p:nvSpPr>
          <p:cNvPr id="10062" name="TextBox 6"/>
          <p:cNvSpPr/>
          <p:nvPr/>
        </p:nvSpPr>
        <p:spPr>
          <a:xfrm xmlns:a="http://schemas.openxmlformats.org/drawingml/2006/main">
            <a:off x="6426000" y="6066000"/>
            <a:ext cx="5346000" cy="50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1100" b="0">
                <a:solidFill>
                  <a:srgbClr val="5F6B73"/>
                </a:solidFill>
                <a:latin typeface="Calibri"/>
                <a:ea typeface="Microsoft YaHei"/>
              </a:rPr>
              <a:t>kubectl output captured live during the run; HPA spec is the one on the previous slide.</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bg>
      <p:bgPr>
        <a:solidFill xmlns:a="http://schemas.openxmlformats.org/drawingml/2006/main">
          <a:srgbClr val="F2F2F2"/>
        </a:solidFill>
      </p:bgPr>
    </p:bg>
    <p:spTree>
      <p:nvGrpSpPr>
        <p:cNvPr id="1" name=""/>
        <p:cNvGrpSpPr/>
        <p:nvPr/>
      </p:nvGrpSpPr>
      <p:grpSpPr/>
      <p:sp>
        <p:nvSpPr>
          <p:cNvPr id="10063" name="TextBox 1"/>
          <p:cNvSpPr/>
          <p:nvPr/>
        </p:nvSpPr>
        <p:spPr>
          <a:xfrm xmlns:a="http://schemas.openxmlformats.org/drawingml/2006/main">
            <a:off x="432000" y="252000"/>
            <a:ext cx="612000" cy="378000"/>
          </a:xfrm>
          <a:prstGeom xmlns:a="http://schemas.openxmlformats.org/drawingml/2006/main" prst="roundRect">
            <a:avLst/>
          </a:prstGeom>
          <a:solidFill xmlns:a="http://schemas.openxmlformats.org/drawingml/2006/main">
            <a:srgbClr val="B85042"/>
          </a:solidFill>
          <a:ln xmlns:a="http://schemas.openxmlformats.org/drawingml/2006/main">
            <a:noFill/>
          </a:ln>
        </p:spPr>
        <p:txBody>
          <a:bodyPr xmlns:a="http://schemas.openxmlformats.org/drawingml/2006/main" lIns="64800" tIns="64800" rIns="64800" bIns="64800" anchor="ctr"/>
          <a:lstStyle xmlns:a="http://schemas.openxmlformats.org/drawingml/2006/main"/>
          <a:p xmlns:a="http://schemas.openxmlformats.org/drawingml/2006/main">
            <a:pPr algn="ctr"/>
            <a:r>
              <a:rPr lang="en-US" sz="1400" b="1">
                <a:solidFill>
                  <a:srgbClr val="FFFDFB"/>
                </a:solidFill>
                <a:latin typeface="Calibri"/>
                <a:ea typeface="Microsoft YaHei"/>
              </a:rPr>
              <a:t>10</a:t>
            </a:r>
          </a:p>
        </p:txBody>
      </p:sp>
      <p:sp>
        <p:nvSpPr>
          <p:cNvPr id="10064" name="TextBox 2"/>
          <p:cNvSpPr/>
          <p:nvPr/>
        </p:nvSpPr>
        <p:spPr>
          <a:xfrm xmlns:a="http://schemas.openxmlformats.org/drawingml/2006/main">
            <a:off x="1152000" y="252000"/>
            <a:ext cx="6480000" cy="37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ctr"/>
          <a:lstStyle xmlns:a="http://schemas.openxmlformats.org/drawingml/2006/main"/>
          <a:p xmlns:a="http://schemas.openxmlformats.org/drawingml/2006/main">
            <a:pPr algn="l"/>
            <a:r>
              <a:rPr lang="en-US" sz="1300" b="0">
                <a:solidFill>
                  <a:srgbClr val="5F6B73"/>
                </a:solidFill>
                <a:latin typeface="Calibri"/>
                <a:ea typeface="Microsoft YaHei"/>
              </a:rPr>
              <a:t>Grafana dashboard</a:t>
            </a:r>
          </a:p>
        </p:txBody>
      </p:sp>
      <p:sp>
        <p:nvSpPr>
          <p:cNvPr id="10065" name="TextBox 3"/>
          <p:cNvSpPr/>
          <p:nvPr/>
        </p:nvSpPr>
        <p:spPr>
          <a:xfrm xmlns:a="http://schemas.openxmlformats.org/drawingml/2006/main">
            <a:off x="432000" y="702000"/>
            <a:ext cx="11304000" cy="91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2800" b="1">
                <a:solidFill>
                  <a:srgbClr val="212121"/>
                </a:solidFill>
                <a:latin typeface="Georgia"/>
                <a:ea typeface="Microsoft YaHei"/>
              </a:rPr>
              <a:t>RPS / CPU / replicas / p95 on one screen</a:t>
            </a:r>
          </a:p>
        </p:txBody>
      </p:sp>
      <p:sp>
        <p:nvSpPr>
          <p:cNvPr id="10066" name="TextBox 4"/>
          <p:cNvSpPr/>
          <p:nvPr/>
        </p:nvSpPr>
        <p:spPr>
          <a:xfrm xmlns:a="http://schemas.openxmlformats.org/drawingml/2006/main">
            <a:off x="432000" y="1530000"/>
            <a:ext cx="11304000" cy="18000"/>
          </a:xfrm>
          <a:prstGeom xmlns:a="http://schemas.openxmlformats.org/drawingml/2006/main" prst="rect">
            <a:avLst/>
          </a:prstGeom>
          <a:solidFill xmlns:a="http://schemas.openxmlformats.org/drawingml/2006/main">
            <a:srgbClr val="D6D6D6"/>
          </a:solidFill>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1800" b="0">
                <a:solidFill>
                  <a:srgbClr val="212121"/>
                </a:solidFill>
                <a:latin typeface="Calibri"/>
                <a:ea typeface="Microsoft YaHei"/>
              </a:rPr>
              <a:t/>
            </a:r>
          </a:p>
        </p:txBody>
      </p:sp>
      <p:sp>
        <p:nvSpPr>
          <p:cNvPr id="10067" name="TextBox 5"/>
          <p:cNvSpPr/>
          <p:nvPr/>
        </p:nvSpPr>
        <p:spPr>
          <a:xfrm xmlns:a="http://schemas.openxmlformats.org/drawingml/2006/main">
            <a:off x="432000" y="1746000"/>
            <a:ext cx="5184000" cy="446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1700" b="0">
                <a:solidFill>
                  <a:srgbClr val="212121"/>
                </a:solidFill>
                <a:latin typeface="Calibri"/>
                <a:ea typeface="Microsoft YaHei"/>
              </a:rPr>
              <a:t>Four panels, one dashboard:</a:t>
            </a:r>
          </a:p>
          <a:p xmlns:a="http://schemas.openxmlformats.org/drawingml/2006/main">
            <a:pPr algn="l"/>
            <a:r>
              <a:rPr lang="en-US" sz="1700" b="0">
                <a:solidFill>
                  <a:srgbClr val="212121"/>
                </a:solidFill>
                <a:latin typeface="Calibri"/>
                <a:ea typeface="Microsoft YaHei"/>
              </a:rPr>
              <a:t>  • RPS (per path)</a:t>
            </a:r>
          </a:p>
          <a:p xmlns:a="http://schemas.openxmlformats.org/drawingml/2006/main">
            <a:pPr algn="l"/>
            <a:r>
              <a:rPr lang="en-US" sz="1700" b="0">
                <a:solidFill>
                  <a:srgbClr val="212121"/>
                </a:solidFill>
                <a:latin typeface="Calibri"/>
                <a:ea typeface="Microsoft YaHei"/>
              </a:rPr>
              <a:t>  • Backend CPU % (per pod, average)</a:t>
            </a:r>
          </a:p>
          <a:p xmlns:a="http://schemas.openxmlformats.org/drawingml/2006/main">
            <a:pPr algn="l"/>
            <a:r>
              <a:rPr lang="en-US" sz="1700" b="0">
                <a:solidFill>
                  <a:srgbClr val="212121"/>
                </a:solidFill>
                <a:latin typeface="Calibri"/>
                <a:ea typeface="Microsoft YaHei"/>
              </a:rPr>
              <a:t>  • Replicas (HPA current)</a:t>
            </a:r>
          </a:p>
          <a:p xmlns:a="http://schemas.openxmlformats.org/drawingml/2006/main">
            <a:pPr algn="l"/>
            <a:r>
              <a:rPr lang="en-US" sz="1700" b="0">
                <a:solidFill>
                  <a:srgbClr val="212121"/>
                </a:solidFill>
                <a:latin typeface="Calibri"/>
                <a:ea typeface="Microsoft YaHei"/>
              </a:rPr>
              <a:t>  • p95 latency on /api/books</a:t>
            </a:r>
          </a:p>
          <a:p xmlns:a="http://schemas.openxmlformats.org/drawingml/2006/main">
            <a:pPr algn="l"/>
            <a:r>
              <a:rPr lang="en-US" sz="1700" b="0">
                <a:solidFill>
                  <a:srgbClr val="212121"/>
                </a:solidFill>
                <a:latin typeface="Calibri"/>
                <a:ea typeface="Microsoft YaHei"/>
              </a:rPr>
              <a:t/>
            </a:r>
          </a:p>
          <a:p xmlns:a="http://schemas.openxmlformats.org/drawingml/2006/main">
            <a:pPr algn="l"/>
            <a:r>
              <a:rPr lang="en-US" sz="1700" b="0">
                <a:solidFill>
                  <a:srgbClr val="212121"/>
                </a:solidFill>
                <a:latin typeface="Calibri"/>
                <a:ea typeface="Microsoft YaHei"/>
              </a:rPr>
              <a:t>What the timeline reads:</a:t>
            </a:r>
          </a:p>
          <a:p xmlns:a="http://schemas.openxmlformats.org/drawingml/2006/main">
            <a:pPr algn="l"/>
            <a:r>
              <a:rPr lang="en-US" sz="1700" b="0">
                <a:solidFill>
                  <a:srgbClr val="212121"/>
                </a:solidFill>
                <a:latin typeface="Calibri"/>
                <a:ea typeface="Microsoft YaHei"/>
              </a:rPr>
              <a:t>  ① RPS climbs from 5 to ~1900</a:t>
            </a:r>
          </a:p>
          <a:p xmlns:a="http://schemas.openxmlformats.org/drawingml/2006/main">
            <a:pPr algn="l"/>
            <a:r>
              <a:rPr lang="en-US" sz="1700" b="0">
                <a:solidFill>
                  <a:srgbClr val="212121"/>
                </a:solidFill>
                <a:latin typeface="Calibri"/>
                <a:ea typeface="Microsoft YaHei"/>
              </a:rPr>
              <a:t>  ② CPU crosses the 60% target line</a:t>
            </a:r>
          </a:p>
          <a:p xmlns:a="http://schemas.openxmlformats.org/drawingml/2006/main">
            <a:pPr algn="l"/>
            <a:r>
              <a:rPr lang="en-US" sz="1700" b="0">
                <a:solidFill>
                  <a:srgbClr val="212121"/>
                </a:solidFill>
                <a:latin typeface="Calibri"/>
                <a:ea typeface="Microsoft YaHei"/>
              </a:rPr>
              <a:t>  ③ Replicas step 2 → 3 → 4 → 5</a:t>
            </a:r>
          </a:p>
          <a:p xmlns:a="http://schemas.openxmlformats.org/drawingml/2006/main">
            <a:pPr algn="l"/>
            <a:r>
              <a:rPr lang="en-US" sz="1700" b="0">
                <a:solidFill>
                  <a:srgbClr val="212121"/>
                </a:solidFill>
                <a:latin typeface="Calibri"/>
                <a:ea typeface="Microsoft YaHei"/>
              </a:rPr>
              <a:t>  ④ p95 spikes to ~50 ms then settles ~28 ms</a:t>
            </a:r>
          </a:p>
          <a:p xmlns:a="http://schemas.openxmlformats.org/drawingml/2006/main">
            <a:pPr algn="l"/>
            <a:r>
              <a:rPr lang="en-US" sz="1700" b="0">
                <a:solidFill>
                  <a:srgbClr val="212121"/>
                </a:solidFill>
                <a:latin typeface="Calibri"/>
                <a:ea typeface="Microsoft YaHei"/>
              </a:rPr>
              <a:t/>
            </a:r>
          </a:p>
          <a:p xmlns:a="http://schemas.openxmlformats.org/drawingml/2006/main">
            <a:pPr algn="l"/>
            <a:r>
              <a:rPr lang="en-US" sz="1700" b="0">
                <a:solidFill>
                  <a:srgbClr val="212121"/>
                </a:solidFill>
                <a:latin typeface="Calibri"/>
                <a:ea typeface="Microsoft YaHei"/>
              </a:rPr>
              <a:t>Datasource: Prometheus, scrape every 5 s.</a:t>
            </a:r>
          </a:p>
        </p:txBody>
      </p:sp>
      <p:pic>
        <p:nvPicPr>
          <p:cNvPr id="10068" name="Picture 1" descr="Grafana dashboard with 4 panels"/>
          <p:cNvPicPr>
            <a:picLocks xmlns:a="http://schemas.openxmlformats.org/drawingml/2006/main" noChangeAspect="1"/>
          </p:cNvPicPr>
          <p:nvPr/>
        </p:nvPicPr>
        <p:blipFill>
          <a:blip xmlns:r="http://schemas.openxmlformats.org/officeDocument/2006/relationships" xmlns:a="http://schemas.openxmlformats.org/drawingml/2006/main" r:embed="Rf7c65aba9ede4189"/>
          <a:stretch xmlns:a="http://schemas.openxmlformats.org/drawingml/2006/main">
            <a:fillRect/>
          </a:stretch>
        </p:blipFill>
        <p:spPr>
          <a:xfrm xmlns:a="http://schemas.openxmlformats.org/drawingml/2006/main">
            <a:off x="5832000" y="1995750"/>
            <a:ext cx="5940000" cy="3712500"/>
          </a:xfrm>
          <a:prstGeom xmlns:a="http://schemas.openxmlformats.org/drawingml/2006/main" prst="rect">
            <a:avLst/>
          </a:prstGeom>
        </p:spPr>
      </p:pic>
      <p:sp>
        <p:nvSpPr>
          <p:cNvPr id="10069" name="TextBox 6"/>
          <p:cNvSpPr/>
          <p:nvPr/>
        </p:nvSpPr>
        <p:spPr>
          <a:xfrm xmlns:a="http://schemas.openxmlformats.org/drawingml/2006/main">
            <a:off x="5832000" y="6066000"/>
            <a:ext cx="5940000" cy="50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1100" b="0">
                <a:solidFill>
                  <a:srgbClr val="5F6B73"/>
                </a:solidFill>
                <a:latin typeface="Calibri"/>
                <a:ea typeface="Microsoft YaHei"/>
              </a:rPr>
              <a:t>Grafana 11, 4 panels on one screen, 10-min window, 5 s refresh.</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bg>
      <p:bgPr>
        <a:solidFill xmlns:a="http://schemas.openxmlformats.org/drawingml/2006/main">
          <a:srgbClr val="F2F2F2"/>
        </a:solidFill>
      </p:bgPr>
    </p:bg>
    <p:spTree>
      <p:nvGrpSpPr>
        <p:cNvPr id="1" name=""/>
        <p:cNvGrpSpPr/>
        <p:nvPr/>
      </p:nvGrpSpPr>
      <p:grpSpPr/>
      <p:sp>
        <p:nvSpPr>
          <p:cNvPr id="10070" name="TextBox 1"/>
          <p:cNvSpPr/>
          <p:nvPr/>
        </p:nvSpPr>
        <p:spPr>
          <a:xfrm xmlns:a="http://schemas.openxmlformats.org/drawingml/2006/main">
            <a:off x="432000" y="252000"/>
            <a:ext cx="612000" cy="378000"/>
          </a:xfrm>
          <a:prstGeom xmlns:a="http://schemas.openxmlformats.org/drawingml/2006/main" prst="roundRect">
            <a:avLst/>
          </a:prstGeom>
          <a:solidFill xmlns:a="http://schemas.openxmlformats.org/drawingml/2006/main">
            <a:srgbClr val="B85042"/>
          </a:solidFill>
          <a:ln xmlns:a="http://schemas.openxmlformats.org/drawingml/2006/main">
            <a:noFill/>
          </a:ln>
        </p:spPr>
        <p:txBody>
          <a:bodyPr xmlns:a="http://schemas.openxmlformats.org/drawingml/2006/main" lIns="64800" tIns="64800" rIns="64800" bIns="64800" anchor="ctr"/>
          <a:lstStyle xmlns:a="http://schemas.openxmlformats.org/drawingml/2006/main"/>
          <a:p xmlns:a="http://schemas.openxmlformats.org/drawingml/2006/main">
            <a:pPr algn="ctr"/>
            <a:r>
              <a:rPr lang="en-US" sz="1400" b="1">
                <a:solidFill>
                  <a:srgbClr val="FFFDFB"/>
                </a:solidFill>
                <a:latin typeface="Calibri"/>
                <a:ea typeface="Microsoft YaHei"/>
              </a:rPr>
              <a:t>11</a:t>
            </a:r>
          </a:p>
        </p:txBody>
      </p:sp>
      <p:sp>
        <p:nvSpPr>
          <p:cNvPr id="10071" name="TextBox 2"/>
          <p:cNvSpPr/>
          <p:nvPr/>
        </p:nvSpPr>
        <p:spPr>
          <a:xfrm xmlns:a="http://schemas.openxmlformats.org/drawingml/2006/main">
            <a:off x="1152000" y="252000"/>
            <a:ext cx="6480000" cy="37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ctr"/>
          <a:lstStyle xmlns:a="http://schemas.openxmlformats.org/drawingml/2006/main"/>
          <a:p xmlns:a="http://schemas.openxmlformats.org/drawingml/2006/main">
            <a:pPr algn="l"/>
            <a:r>
              <a:rPr lang="en-US" sz="1300" b="0">
                <a:solidFill>
                  <a:srgbClr val="5F6B73"/>
                </a:solidFill>
                <a:latin typeface="Calibri"/>
                <a:ea typeface="Microsoft YaHei"/>
              </a:rPr>
              <a:t>Observability + UX</a:t>
            </a:r>
          </a:p>
        </p:txBody>
      </p:sp>
      <p:sp>
        <p:nvSpPr>
          <p:cNvPr id="10072" name="TextBox 3"/>
          <p:cNvSpPr/>
          <p:nvPr/>
        </p:nvSpPr>
        <p:spPr>
          <a:xfrm xmlns:a="http://schemas.openxmlformats.org/drawingml/2006/main">
            <a:off x="432000" y="702000"/>
            <a:ext cx="11304000" cy="91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2800" b="1">
                <a:solidFill>
                  <a:srgbClr val="212121"/>
                </a:solidFill>
                <a:latin typeface="Georgia"/>
                <a:ea typeface="Microsoft YaHei"/>
              </a:rPr>
              <a:t>/metrics for ops, deployment snapshot for users</a:t>
            </a:r>
          </a:p>
        </p:txBody>
      </p:sp>
      <p:sp>
        <p:nvSpPr>
          <p:cNvPr id="10073" name="TextBox 4"/>
          <p:cNvSpPr/>
          <p:nvPr/>
        </p:nvSpPr>
        <p:spPr>
          <a:xfrm xmlns:a="http://schemas.openxmlformats.org/drawingml/2006/main">
            <a:off x="432000" y="1530000"/>
            <a:ext cx="11304000" cy="18000"/>
          </a:xfrm>
          <a:prstGeom xmlns:a="http://schemas.openxmlformats.org/drawingml/2006/main" prst="rect">
            <a:avLst/>
          </a:prstGeom>
          <a:solidFill xmlns:a="http://schemas.openxmlformats.org/drawingml/2006/main">
            <a:srgbClr val="D6D6D6"/>
          </a:solidFill>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1800" b="0">
                <a:solidFill>
                  <a:srgbClr val="212121"/>
                </a:solidFill>
                <a:latin typeface="Calibri"/>
                <a:ea typeface="Microsoft YaHei"/>
              </a:rPr>
              <a:t/>
            </a:r>
          </a:p>
        </p:txBody>
      </p:sp>
      <p:sp>
        <p:nvSpPr>
          <p:cNvPr id="10074" name="TextBox 5"/>
          <p:cNvSpPr/>
          <p:nvPr/>
        </p:nvSpPr>
        <p:spPr>
          <a:xfrm xmlns:a="http://schemas.openxmlformats.org/drawingml/2006/main">
            <a:off x="432000" y="1746000"/>
            <a:ext cx="5184000" cy="446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1700" b="0">
                <a:solidFill>
                  <a:srgbClr val="212121"/>
                </a:solidFill>
                <a:latin typeface="Calibri"/>
                <a:ea typeface="Microsoft YaHei"/>
              </a:rPr>
              <a:t>/metrics (Prometheus text format):</a:t>
            </a:r>
          </a:p>
          <a:p xmlns:a="http://schemas.openxmlformats.org/drawingml/2006/main">
            <a:pPr algn="l"/>
            <a:r>
              <a:rPr lang="en-US" sz="1700" b="0">
                <a:solidFill>
                  <a:srgbClr val="212121"/>
                </a:solidFill>
                <a:latin typeface="Calibri"/>
                <a:ea typeface="Microsoft YaHei"/>
              </a:rPr>
              <a:t>• bookstore_backend_info{...} stack tag</a:t>
            </a:r>
          </a:p>
          <a:p xmlns:a="http://schemas.openxmlformats.org/drawingml/2006/main">
            <a:pPr algn="l"/>
            <a:r>
              <a:rPr lang="en-US" sz="1700" b="0">
                <a:solidFill>
                  <a:srgbClr val="212121"/>
                </a:solidFill>
                <a:latin typeface="Calibri"/>
                <a:ea typeface="Microsoft YaHei"/>
              </a:rPr>
              <a:t>• bookstore_http_requests_total{path}</a:t>
            </a:r>
          </a:p>
          <a:p xmlns:a="http://schemas.openxmlformats.org/drawingml/2006/main">
            <a:pPr algn="l"/>
            <a:r>
              <a:rPr lang="en-US" sz="1700" b="0">
                <a:solidFill>
                  <a:srgbClr val="212121"/>
                </a:solidFill>
                <a:latin typeface="Calibri"/>
                <a:ea typeface="Microsoft YaHei"/>
              </a:rPr>
              <a:t>  health=14, books=14, cart=50, orders=12</a:t>
            </a:r>
          </a:p>
          <a:p xmlns:a="http://schemas.openxmlformats.org/drawingml/2006/main">
            <a:pPr algn="l"/>
            <a:r>
              <a:rPr lang="en-US" sz="1700" b="0">
                <a:solidFill>
                  <a:srgbClr val="212121"/>
                </a:solidFill>
                <a:latin typeface="Calibri"/>
                <a:ea typeface="Microsoft YaHei"/>
              </a:rPr>
              <a:t>  — real demo traffic, not pre-seeded</a:t>
            </a:r>
          </a:p>
          <a:p xmlns:a="http://schemas.openxmlformats.org/drawingml/2006/main">
            <a:pPr algn="l"/>
            <a:r>
              <a:rPr lang="en-US" sz="1700" b="0">
                <a:solidFill>
                  <a:srgbClr val="212121"/>
                </a:solidFill>
                <a:latin typeface="Calibri"/>
                <a:ea typeface="Microsoft YaHei"/>
              </a:rPr>
              <a:t/>
            </a:r>
          </a:p>
          <a:p xmlns:a="http://schemas.openxmlformats.org/drawingml/2006/main">
            <a:pPr algn="l"/>
            <a:r>
              <a:rPr lang="en-US" sz="1700" b="0">
                <a:solidFill>
                  <a:srgbClr val="212121"/>
                </a:solidFill>
                <a:latin typeface="Calibri"/>
                <a:ea typeface="Microsoft YaHei"/>
              </a:rPr>
              <a:t>Why this shape:</a:t>
            </a:r>
          </a:p>
          <a:p xmlns:a="http://schemas.openxmlformats.org/drawingml/2006/main">
            <a:pPr algn="l"/>
            <a:r>
              <a:rPr lang="en-US" sz="1700" b="0">
                <a:solidFill>
                  <a:srgbClr val="212121"/>
                </a:solidFill>
                <a:latin typeface="Calibri"/>
                <a:ea typeface="Microsoft YaHei"/>
              </a:rPr>
              <a:t>• No prometheus_client dependency required</a:t>
            </a:r>
          </a:p>
          <a:p xmlns:a="http://schemas.openxmlformats.org/drawingml/2006/main">
            <a:pPr algn="l"/>
            <a:r>
              <a:rPr lang="en-US" sz="1700" b="0">
                <a:solidFill>
                  <a:srgbClr val="212121"/>
                </a:solidFill>
                <a:latin typeface="Calibri"/>
                <a:ea typeface="Microsoft YaHei"/>
              </a:rPr>
              <a:t>• A ServiceMonitor scrapes this directly</a:t>
            </a:r>
          </a:p>
          <a:p xmlns:a="http://schemas.openxmlformats.org/drawingml/2006/main">
            <a:pPr algn="l"/>
            <a:r>
              <a:rPr lang="en-US" sz="1700" b="0">
                <a:solidFill>
                  <a:srgbClr val="212121"/>
                </a:solidFill>
                <a:latin typeface="Calibri"/>
                <a:ea typeface="Microsoft YaHei"/>
              </a:rPr>
              <a:t>• Feeds the Grafana panels on the previous slide</a:t>
            </a:r>
          </a:p>
          <a:p xmlns:a="http://schemas.openxmlformats.org/drawingml/2006/main">
            <a:pPr algn="l"/>
            <a:r>
              <a:rPr lang="en-US" sz="1700" b="0">
                <a:solidFill>
                  <a:srgbClr val="212121"/>
                </a:solidFill>
                <a:latin typeface="Calibri"/>
                <a:ea typeface="Microsoft YaHei"/>
              </a:rPr>
              <a:t/>
            </a:r>
          </a:p>
          <a:p xmlns:a="http://schemas.openxmlformats.org/drawingml/2006/main">
            <a:pPr algn="l"/>
            <a:r>
              <a:rPr lang="en-US" sz="1700" b="0">
                <a:solidFill>
                  <a:srgbClr val="212121"/>
                </a:solidFill>
                <a:latin typeface="Calibri"/>
                <a:ea typeface="Microsoft YaHei"/>
              </a:rPr>
              <a:t>The frontend's Live Deployment Snapshot card</a:t>
            </a:r>
          </a:p>
          <a:p xmlns:a="http://schemas.openxmlformats.org/drawingml/2006/main">
            <a:pPr algn="l"/>
            <a:r>
              <a:rPr lang="en-US" sz="1700" b="0">
                <a:solidFill>
                  <a:srgbClr val="212121"/>
                </a:solidFill>
                <a:latin typeface="Calibri"/>
                <a:ea typeface="Microsoft YaHei"/>
              </a:rPr>
              <a:t>translates the same numbers for the user.</a:t>
            </a:r>
          </a:p>
        </p:txBody>
      </p:sp>
      <p:pic>
        <p:nvPicPr>
          <p:cNvPr id="10075" name="Picture 1" descr="/metrics text output"/>
          <p:cNvPicPr>
            <a:picLocks xmlns:a="http://schemas.openxmlformats.org/drawingml/2006/main" noChangeAspect="1"/>
          </p:cNvPicPr>
          <p:nvPr/>
        </p:nvPicPr>
        <p:blipFill>
          <a:blip xmlns:r="http://schemas.openxmlformats.org/officeDocument/2006/relationships" xmlns:a="http://schemas.openxmlformats.org/drawingml/2006/main" r:embed="R9699962734d847a8"/>
          <a:stretch xmlns:a="http://schemas.openxmlformats.org/drawingml/2006/main">
            <a:fillRect/>
          </a:stretch>
        </p:blipFill>
        <p:spPr>
          <a:xfrm xmlns:a="http://schemas.openxmlformats.org/drawingml/2006/main">
            <a:off x="5832000" y="2809750"/>
            <a:ext cx="5940000" cy="2084500"/>
          </a:xfrm>
          <a:prstGeom xmlns:a="http://schemas.openxmlformats.org/drawingml/2006/main" prst="rect">
            <a:avLst/>
          </a:prstGeom>
        </p:spPr>
      </p:pic>
      <p:sp>
        <p:nvSpPr>
          <p:cNvPr id="10076" name="TextBox 6"/>
          <p:cNvSpPr/>
          <p:nvPr/>
        </p:nvSpPr>
        <p:spPr>
          <a:xfrm xmlns:a="http://schemas.openxmlformats.org/drawingml/2006/main">
            <a:off x="5832000" y="6066000"/>
            <a:ext cx="5940000" cy="50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1100" b="0">
                <a:solidFill>
                  <a:srgbClr val="5F6B73"/>
                </a:solidFill>
                <a:latin typeface="Calibri"/>
                <a:ea typeface="Microsoft YaHei"/>
              </a:rPr>
              <a:t>Next slide: how the user sees this.</a:t>
            </a:r>
          </a:p>
        </p:txBody>
      </p:sp>
    </p:spTree>
  </p:cSld>
</p:sld>
</file>

<file path=ppt/slides/slide12.xml><?xml version="1.0" encoding="utf-8"?>
<p:sld xmlns:a="http://schemas.openxmlformats.org/drawingml/2006/main" xmlns:p="http://schemas.openxmlformats.org/presentationml/2006/main">
  <p:cSld>
    <p:bg>
      <p:bgPr>
        <a:solidFill xmlns:a="http://schemas.openxmlformats.org/drawingml/2006/main">
          <a:srgbClr val="212121"/>
        </a:solidFill>
      </p:bgPr>
    </p:bg>
    <p:spTree>
      <p:nvGrpSpPr>
        <p:cNvPr id="1" name=""/>
        <p:cNvGrpSpPr/>
        <p:nvPr/>
      </p:nvGrpSpPr>
      <p:grpSpPr/>
      <p:sp>
        <p:nvSpPr>
          <p:cNvPr id="10077" name="TextBox 1"/>
          <p:cNvSpPr/>
          <p:nvPr/>
        </p:nvSpPr>
        <p:spPr>
          <a:xfrm xmlns:a="http://schemas.openxmlformats.org/drawingml/2006/main">
            <a:off x="576000" y="2520000"/>
            <a:ext cx="10800000" cy="144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ctr"/>
          <a:lstStyle xmlns:a="http://schemas.openxmlformats.org/drawingml/2006/main"/>
          <a:p xmlns:a="http://schemas.openxmlformats.org/drawingml/2006/main">
            <a:pPr algn="l"/>
            <a:r>
              <a:rPr lang="en-US" sz="4600" b="1">
                <a:solidFill>
                  <a:srgbClr val="FFFDFB"/>
                </a:solidFill>
                <a:latin typeface="Georgia"/>
                <a:ea typeface="Microsoft YaHei"/>
              </a:rPr>
              <a:t>Thank you. Questions?</a:t>
            </a:r>
          </a:p>
        </p:txBody>
      </p:sp>
      <p:sp>
        <p:nvSpPr>
          <p:cNvPr id="10078" name="TextBox 2"/>
          <p:cNvSpPr/>
          <p:nvPr/>
        </p:nvSpPr>
        <p:spPr>
          <a:xfrm xmlns:a="http://schemas.openxmlformats.org/drawingml/2006/main">
            <a:off x="576000" y="4500000"/>
            <a:ext cx="10800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1400" b="0">
                <a:solidFill>
                  <a:srgbClr val="9AA3AC"/>
                </a:solidFill>
                <a:latin typeface="Calibri"/>
                <a:ea typeface="Microsoft YaHei"/>
              </a:rPr>
              <a:t>github.com/AdAstraAbyssoque/UFUG-1811   ·   PR #1</a:t>
            </a:r>
          </a:p>
        </p:txBody>
      </p:sp>
      <p:sp>
        <p:nvSpPr>
          <p:cNvPr id="10079" name="TextBox 3"/>
          <p:cNvSpPr/>
          <p:nvPr/>
        </p:nvSpPr>
        <p:spPr>
          <a:xfrm xmlns:a="http://schemas.openxmlformats.org/drawingml/2006/main">
            <a:off x="576000" y="2052000"/>
            <a:ext cx="2520000" cy="64800"/>
          </a:xfrm>
          <a:prstGeom xmlns:a="http://schemas.openxmlformats.org/drawingml/2006/main" prst="rect">
            <a:avLst/>
          </a:prstGeom>
          <a:solidFill xmlns:a="http://schemas.openxmlformats.org/drawingml/2006/main">
            <a:srgbClr val="B85042"/>
          </a:solidFill>
          <a:ln xmlns:a="http://schemas.openxmlformats.org/drawingml/2006/main">
            <a:noFill/>
          </a:ln>
        </p:spPr>
        <p:txBody>
          <a:bodyPr xmlns:a="http://schemas.openxmlformats.org/drawingml/2006/main" lIns="64800" tIns="64800" rIns="64800" bIns="64800" anchor="t"/>
          <a:lstStyle xmlns:a="http://schemas.openxmlformats.org/drawingml/2006/main"/>
          <a:p xmlns:a="http://schemas.openxmlformats.org/drawingml/2006/main">
            <a:pPr algn="l"/>
            <a:r>
              <a:rPr lang="en-US" sz="1800" b="0">
                <a:solidFill>
                  <a:srgbClr val="212121"/>
                </a:solidFill>
                <a:latin typeface="Calibri"/>
                <a:ea typeface="Microsoft YaHei"/>
              </a:rPr>
              <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OfficeCLI/1.0.73</ap:Application>
</ap:Properties>
</file>

<file path=docProps/core.xml><?xml version="1.0" encoding="utf-8"?>
<cp:coreProperties xmlns:cp="http://schemas.openxmlformats.org/package/2006/metadata/core-properties" xmlns:dc="http://purl.org/dc/elements/1.1/" xmlns:dcterms="http://purl.org/dc/terms/" xmlns:xsi="http://www.w3.org/2001/XMLSchema-instance">
  <dc:creator>OfficeCLI</dc:creator>
  <dcterms:created xsi:type="dcterms:W3CDTF">2026-05-07T01:38:32Z</dcterms:created>
  <cp:lastModifiedBy>OfficeCLI</cp:lastModifiedBy>
  <dcterms:modified xsi:type="dcterms:W3CDTF">2026-05-07T01:38:32Z</dcterms:modified>
</cp:coreProperties>
</file>